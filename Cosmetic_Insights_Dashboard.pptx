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B1D4C"/>
        </a:solidFill>
      </p:bgPr>
    </p:bg>
    <p:spTree>
      <p:nvGrpSpPr>
        <p:cNvPr id="1" name=""/>
        <p:cNvGrpSpPr/>
        <p:nvPr/>
      </p:nvGrpSpPr>
      <p:grpSpPr>
        <a:xfrm>
          <a:off x="0" y="0"/>
          <a:ext cx="0" cy="0"/>
          <a:chOff x="0" y="0"/>
          <a:chExt cx="0" cy="0"/>
        </a:xfrm>
      </p:grpSpPr>
      <p:sp>
        <p:nvSpPr>
          <p:cNvPr id="2" name="Shape 0"/>
          <p:cNvSpPr/>
          <p:nvPr/>
        </p:nvSpPr>
        <p:spPr>
          <a:xfrm>
            <a:off x="9692640" y="-1645920"/>
            <a:ext cx="5029200" cy="5029200"/>
          </a:xfrm>
          <a:prstGeom prst="ellipse">
            <a:avLst/>
          </a:prstGeom>
          <a:solidFill>
            <a:srgbClr val="C2185B">
              <a:alpha val="45000"/>
            </a:srgbClr>
          </a:solidFill>
          <a:ln/>
        </p:spPr>
      </p:sp>
      <p:sp>
        <p:nvSpPr>
          <p:cNvPr id="3" name="Shape 1"/>
          <p:cNvSpPr/>
          <p:nvPr/>
        </p:nvSpPr>
        <p:spPr>
          <a:xfrm>
            <a:off x="-1371600" y="4389120"/>
            <a:ext cx="3840480" cy="3840480"/>
          </a:xfrm>
          <a:prstGeom prst="ellipse">
            <a:avLst/>
          </a:prstGeom>
          <a:solidFill>
            <a:srgbClr val="E91E8C">
              <a:alpha val="35000"/>
            </a:srgbClr>
          </a:solidFill>
          <a:ln/>
        </p:spPr>
      </p:sp>
      <p:sp>
        <p:nvSpPr>
          <p:cNvPr id="4" name="Text 2"/>
          <p:cNvSpPr/>
          <p:nvPr/>
        </p:nvSpPr>
        <p:spPr>
          <a:xfrm>
            <a:off x="731520" y="1371600"/>
            <a:ext cx="9144000" cy="365760"/>
          </a:xfrm>
          <a:prstGeom prst="rect">
            <a:avLst/>
          </a:prstGeom>
          <a:noFill/>
          <a:ln/>
        </p:spPr>
        <p:txBody>
          <a:bodyPr wrap="square" rtlCol="0" anchor="ctr"/>
          <a:lstStyle/>
          <a:p>
            <a:pPr indent="0" marL="0">
              <a:buNone/>
            </a:pPr>
            <a:r>
              <a:rPr lang="en-US" sz="1300" b="1" spc="200" kern="0" dirty="0">
                <a:solidFill>
                  <a:srgbClr val="F4C6DE"/>
                </a:solidFill>
                <a:latin typeface="Calibri" pitchFamily="34" charset="0"/>
                <a:ea typeface="Calibri" pitchFamily="34" charset="-122"/>
                <a:cs typeface="Calibri" pitchFamily="34" charset="-120"/>
              </a:rPr>
              <a:t>COSMETICS ANALYTICS · TABLEAU DASHBOARD</a:t>
            </a:r>
            <a:endParaRPr lang="en-US" sz="1300" dirty="0"/>
          </a:p>
        </p:txBody>
      </p:sp>
      <p:sp>
        <p:nvSpPr>
          <p:cNvPr id="5" name="Text 3"/>
          <p:cNvSpPr/>
          <p:nvPr/>
        </p:nvSpPr>
        <p:spPr>
          <a:xfrm>
            <a:off x="731520" y="1783080"/>
            <a:ext cx="10515600" cy="109728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Cosmetic Insights</a:t>
            </a:r>
            <a:endParaRPr lang="en-US" sz="5400" dirty="0"/>
          </a:p>
        </p:txBody>
      </p:sp>
      <p:sp>
        <p:nvSpPr>
          <p:cNvPr id="6" name="Text 4"/>
          <p:cNvSpPr/>
          <p:nvPr/>
        </p:nvSpPr>
        <p:spPr>
          <a:xfrm>
            <a:off x="731520" y="2788920"/>
            <a:ext cx="9601200" cy="640080"/>
          </a:xfrm>
          <a:prstGeom prst="rect">
            <a:avLst/>
          </a:prstGeom>
          <a:noFill/>
          <a:ln/>
        </p:spPr>
        <p:txBody>
          <a:bodyPr wrap="square" rtlCol="0" anchor="ctr"/>
          <a:lstStyle/>
          <a:p>
            <a:pPr indent="0" marL="0">
              <a:buNone/>
            </a:pPr>
            <a:r>
              <a:rPr lang="en-US" sz="2000" i="1" dirty="0">
                <a:solidFill>
                  <a:srgbClr val="F4C6DE"/>
                </a:solidFill>
                <a:latin typeface="Calibri" pitchFamily="34" charset="0"/>
                <a:ea typeface="Calibri" pitchFamily="34" charset="-122"/>
                <a:cs typeface="Calibri" pitchFamily="34" charset="-120"/>
              </a:rPr>
              <a:t>Navigating Cosmetics Trends and Consumer Behavior with Tableau</a:t>
            </a:r>
            <a:endParaRPr lang="en-US" sz="2000" dirty="0"/>
          </a:p>
        </p:txBody>
      </p:sp>
      <p:sp>
        <p:nvSpPr>
          <p:cNvPr id="7" name="Text 5"/>
          <p:cNvSpPr/>
          <p:nvPr/>
        </p:nvSpPr>
        <p:spPr>
          <a:xfrm>
            <a:off x="731520" y="3611880"/>
            <a:ext cx="8046720" cy="914400"/>
          </a:xfrm>
          <a:prstGeom prst="rect">
            <a:avLst/>
          </a:prstGeom>
          <a:noFill/>
          <a:ln/>
        </p:spPr>
        <p:txBody>
          <a:bodyPr wrap="square" rtlCol="0" anchor="ctr"/>
          <a:lstStyle/>
          <a:p>
            <a:pPr indent="0" marL="0">
              <a:lnSpc>
                <a:spcPct val="125000"/>
              </a:lnSpc>
              <a:buNone/>
            </a:pPr>
            <a:r>
              <a:rPr lang="en-US" sz="1350" dirty="0">
                <a:solidFill>
                  <a:srgbClr val="EAD3DF"/>
                </a:solidFill>
                <a:latin typeface="Calibri" pitchFamily="34" charset="0"/>
                <a:ea typeface="Calibri" pitchFamily="34" charset="-122"/>
                <a:cs typeface="Calibri" pitchFamily="34" charset="-120"/>
              </a:rPr>
              <a:t>An interactive Tableau dashboard analyzing product data across 116 brands and 1,472 products in the skincare and cosmetics space — uncovering trends in pricing, category distribution, and skin-type suitability.</a:t>
            </a:r>
            <a:endParaRPr lang="en-US" sz="1350" dirty="0"/>
          </a:p>
        </p:txBody>
      </p:sp>
      <p:sp>
        <p:nvSpPr>
          <p:cNvPr id="8" name="Text 6"/>
          <p:cNvSpPr/>
          <p:nvPr/>
        </p:nvSpPr>
        <p:spPr>
          <a:xfrm>
            <a:off x="731520" y="4709160"/>
            <a:ext cx="192024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116</a:t>
            </a:r>
            <a:endParaRPr lang="en-US" sz="3200" dirty="0"/>
          </a:p>
        </p:txBody>
      </p:sp>
      <p:sp>
        <p:nvSpPr>
          <p:cNvPr id="9" name="Text 7"/>
          <p:cNvSpPr/>
          <p:nvPr/>
        </p:nvSpPr>
        <p:spPr>
          <a:xfrm>
            <a:off x="731520" y="5285232"/>
            <a:ext cx="1920240" cy="274320"/>
          </a:xfrm>
          <a:prstGeom prst="rect">
            <a:avLst/>
          </a:prstGeom>
          <a:noFill/>
          <a:ln/>
        </p:spPr>
        <p:txBody>
          <a:bodyPr wrap="square" rtlCol="0" anchor="ctr"/>
          <a:lstStyle/>
          <a:p>
            <a:pPr indent="0" marL="0">
              <a:buNone/>
            </a:pPr>
            <a:r>
              <a:rPr lang="en-US" sz="1050" b="1" spc="100" kern="0" dirty="0">
                <a:solidFill>
                  <a:srgbClr val="F4C6DE"/>
                </a:solidFill>
                <a:latin typeface="Calibri" pitchFamily="34" charset="0"/>
                <a:ea typeface="Calibri" pitchFamily="34" charset="-122"/>
                <a:cs typeface="Calibri" pitchFamily="34" charset="-120"/>
              </a:rPr>
              <a:t>BRANDS</a:t>
            </a:r>
            <a:endParaRPr lang="en-US" sz="1050" dirty="0"/>
          </a:p>
        </p:txBody>
      </p:sp>
      <p:sp>
        <p:nvSpPr>
          <p:cNvPr id="10" name="Text 8"/>
          <p:cNvSpPr/>
          <p:nvPr/>
        </p:nvSpPr>
        <p:spPr>
          <a:xfrm>
            <a:off x="2880360" y="4709160"/>
            <a:ext cx="192024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1,472</a:t>
            </a:r>
            <a:endParaRPr lang="en-US" sz="3200" dirty="0"/>
          </a:p>
        </p:txBody>
      </p:sp>
      <p:sp>
        <p:nvSpPr>
          <p:cNvPr id="11" name="Text 9"/>
          <p:cNvSpPr/>
          <p:nvPr/>
        </p:nvSpPr>
        <p:spPr>
          <a:xfrm>
            <a:off x="2880360" y="5285232"/>
            <a:ext cx="1920240" cy="274320"/>
          </a:xfrm>
          <a:prstGeom prst="rect">
            <a:avLst/>
          </a:prstGeom>
          <a:noFill/>
          <a:ln/>
        </p:spPr>
        <p:txBody>
          <a:bodyPr wrap="square" rtlCol="0" anchor="ctr"/>
          <a:lstStyle/>
          <a:p>
            <a:pPr indent="0" marL="0">
              <a:buNone/>
            </a:pPr>
            <a:r>
              <a:rPr lang="en-US" sz="1050" b="1" spc="100" kern="0" dirty="0">
                <a:solidFill>
                  <a:srgbClr val="F4C6DE"/>
                </a:solidFill>
                <a:latin typeface="Calibri" pitchFamily="34" charset="0"/>
                <a:ea typeface="Calibri" pitchFamily="34" charset="-122"/>
                <a:cs typeface="Calibri" pitchFamily="34" charset="-120"/>
              </a:rPr>
              <a:t>PRODUCTS</a:t>
            </a:r>
            <a:endParaRPr lang="en-US" sz="1050" dirty="0"/>
          </a:p>
        </p:txBody>
      </p:sp>
      <p:sp>
        <p:nvSpPr>
          <p:cNvPr id="12" name="Text 10"/>
          <p:cNvSpPr/>
          <p:nvPr/>
        </p:nvSpPr>
        <p:spPr>
          <a:xfrm>
            <a:off x="5029200" y="4709160"/>
            <a:ext cx="192024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5</a:t>
            </a:r>
            <a:endParaRPr lang="en-US" sz="3200" dirty="0"/>
          </a:p>
        </p:txBody>
      </p:sp>
      <p:sp>
        <p:nvSpPr>
          <p:cNvPr id="13" name="Text 11"/>
          <p:cNvSpPr/>
          <p:nvPr/>
        </p:nvSpPr>
        <p:spPr>
          <a:xfrm>
            <a:off x="5029200" y="5285232"/>
            <a:ext cx="1920240" cy="274320"/>
          </a:xfrm>
          <a:prstGeom prst="rect">
            <a:avLst/>
          </a:prstGeom>
          <a:noFill/>
          <a:ln/>
        </p:spPr>
        <p:txBody>
          <a:bodyPr wrap="square" rtlCol="0" anchor="ctr"/>
          <a:lstStyle/>
          <a:p>
            <a:pPr indent="0" marL="0">
              <a:buNone/>
            </a:pPr>
            <a:r>
              <a:rPr lang="en-US" sz="1050" b="1" spc="100" kern="0" dirty="0">
                <a:solidFill>
                  <a:srgbClr val="F4C6DE"/>
                </a:solidFill>
                <a:latin typeface="Calibri" pitchFamily="34" charset="0"/>
                <a:ea typeface="Calibri" pitchFamily="34" charset="-122"/>
                <a:cs typeface="Calibri" pitchFamily="34" charset="-120"/>
              </a:rPr>
              <a:t>SKIN TYPES</a:t>
            </a:r>
            <a:endParaRPr lang="en-US" sz="1050" dirty="0"/>
          </a:p>
        </p:txBody>
      </p:sp>
      <p:sp>
        <p:nvSpPr>
          <p:cNvPr id="14" name="Text 12"/>
          <p:cNvSpPr/>
          <p:nvPr/>
        </p:nvSpPr>
        <p:spPr>
          <a:xfrm>
            <a:off x="731520" y="6263640"/>
            <a:ext cx="10515600" cy="320040"/>
          </a:xfrm>
          <a:prstGeom prst="rect">
            <a:avLst/>
          </a:prstGeom>
          <a:noFill/>
          <a:ln/>
        </p:spPr>
        <p:txBody>
          <a:bodyPr wrap="square" rtlCol="0" anchor="ctr"/>
          <a:lstStyle/>
          <a:p>
            <a:pPr indent="0" marL="0">
              <a:buNone/>
            </a:pPr>
            <a:r>
              <a:rPr lang="en-US" sz="1050" dirty="0">
                <a:solidFill>
                  <a:srgbClr val="D89CB8"/>
                </a:solidFill>
                <a:latin typeface="Calibri" pitchFamily="34" charset="0"/>
                <a:ea typeface="Calibri" pitchFamily="34" charset="-122"/>
                <a:cs typeface="Calibri" pitchFamily="34" charset="-120"/>
              </a:rPr>
              <a:t>Shafiya Shaik (Team Lead)  ·  Varsha Vanganuru  ·  Afreen Shaikh  ·  Shaik Safa  ·  Syed Azmeera Begum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indent="0" marL="0">
              <a:buNone/>
            </a:pPr>
            <a:r>
              <a:rPr lang="en-US" sz="3000" b="1" dirty="0">
                <a:solidFill>
                  <a:srgbClr val="3A2130"/>
                </a:solidFill>
                <a:latin typeface="Cambria" pitchFamily="34" charset="0"/>
                <a:ea typeface="Cambria" pitchFamily="34" charset="-122"/>
                <a:cs typeface="Cambria" pitchFamily="34" charset="-120"/>
              </a:rPr>
              <a:t>Project Overview</a:t>
            </a:r>
            <a:endParaRPr lang="en-US" sz="3000" dirty="0"/>
          </a:p>
        </p:txBody>
      </p:sp>
      <p:sp>
        <p:nvSpPr>
          <p:cNvPr id="3" name="Text 1"/>
          <p:cNvSpPr/>
          <p:nvPr/>
        </p:nvSpPr>
        <p:spPr>
          <a:xfrm>
            <a:off x="640080" y="1188720"/>
            <a:ext cx="5577840" cy="1554480"/>
          </a:xfrm>
          <a:prstGeom prst="rect">
            <a:avLst/>
          </a:prstGeom>
          <a:noFill/>
          <a:ln/>
        </p:spPr>
        <p:txBody>
          <a:bodyPr wrap="square" rtlCol="0" anchor="ctr"/>
          <a:lstStyle/>
          <a:p>
            <a:pPr indent="0" marL="0">
              <a:lnSpc>
                <a:spcPct val="130000"/>
              </a:lnSpc>
              <a:buNone/>
            </a:pPr>
            <a:r>
              <a:rPr lang="en-US" sz="1300" dirty="0">
                <a:solidFill>
                  <a:srgbClr val="3A2130"/>
                </a:solidFill>
                <a:latin typeface="Calibri" pitchFamily="34" charset="0"/>
                <a:ea typeface="Calibri" pitchFamily="34" charset="-122"/>
                <a:cs typeface="Calibri" pitchFamily="34" charset="-120"/>
              </a:rPr>
              <a:t>The cosmetics industry is one of the fastest-growing and most competitive sectors, shaped by changing consumer preferences, diverse skin types, brand innovation, and evolving pricing strategies. As demand for personalized beauty products grows, companies increasingly rely on data-driven insights to understand market trends, consumer behavior, and product performance.</a:t>
            </a:r>
            <a:endParaRPr lang="en-US" sz="1300" dirty="0"/>
          </a:p>
        </p:txBody>
      </p:sp>
      <p:sp>
        <p:nvSpPr>
          <p:cNvPr id="4" name="Text 2"/>
          <p:cNvSpPr/>
          <p:nvPr/>
        </p:nvSpPr>
        <p:spPr>
          <a:xfrm>
            <a:off x="640080" y="2788920"/>
            <a:ext cx="5577840" cy="1188720"/>
          </a:xfrm>
          <a:prstGeom prst="rect">
            <a:avLst/>
          </a:prstGeom>
          <a:noFill/>
          <a:ln/>
        </p:spPr>
        <p:txBody>
          <a:bodyPr wrap="square" rtlCol="0" anchor="ctr"/>
          <a:lstStyle/>
          <a:p>
            <a:pPr indent="0" marL="0">
              <a:lnSpc>
                <a:spcPct val="130000"/>
              </a:lnSpc>
              <a:buNone/>
            </a:pPr>
            <a:r>
              <a:rPr lang="en-US" sz="1300" dirty="0">
                <a:solidFill>
                  <a:srgbClr val="3A2130"/>
                </a:solidFill>
                <a:latin typeface="Calibri" pitchFamily="34" charset="0"/>
                <a:ea typeface="Calibri" pitchFamily="34" charset="-122"/>
                <a:cs typeface="Calibri" pitchFamily="34" charset="-120"/>
              </a:rPr>
              <a:t>This project analyzes a cosmetics dataset — covering brand, product category, price, rank, and skin-type suitability — to surface actionable insights for brand performance, pricing patterns, product distribution, and skin-type coverage.</a:t>
            </a:r>
            <a:endParaRPr lang="en-US" sz="1300" dirty="0"/>
          </a:p>
        </p:txBody>
      </p:sp>
      <p:sp>
        <p:nvSpPr>
          <p:cNvPr id="5" name="Shape 3"/>
          <p:cNvSpPr/>
          <p:nvPr/>
        </p:nvSpPr>
        <p:spPr>
          <a:xfrm>
            <a:off x="640080" y="4160520"/>
            <a:ext cx="1737360" cy="1051560"/>
          </a:xfrm>
          <a:prstGeom prst="roundRect">
            <a:avLst>
              <a:gd name="adj" fmla="val 6957"/>
            </a:avLst>
          </a:prstGeom>
          <a:solidFill>
            <a:srgbClr val="FDEBF3"/>
          </a:solidFill>
          <a:ln/>
          <a:effectLst>
            <a:outerShdw sx="100000" sy="100000" kx="0" ky="0" algn="bl" rotWithShape="0" blurRad="101600" dist="38100" dir="2700000">
              <a:srgbClr val="000000">
                <a:alpha val="12000"/>
              </a:srgbClr>
            </a:outerShdw>
          </a:effectLst>
        </p:spPr>
      </p:sp>
      <p:sp>
        <p:nvSpPr>
          <p:cNvPr id="6" name="Text 4"/>
          <p:cNvSpPr/>
          <p:nvPr/>
        </p:nvSpPr>
        <p:spPr>
          <a:xfrm>
            <a:off x="640080" y="4251960"/>
            <a:ext cx="1737360" cy="457200"/>
          </a:xfrm>
          <a:prstGeom prst="rect">
            <a:avLst/>
          </a:prstGeom>
          <a:noFill/>
          <a:ln/>
        </p:spPr>
        <p:txBody>
          <a:bodyPr wrap="square" rtlCol="0" anchor="ctr"/>
          <a:lstStyle/>
          <a:p>
            <a:pPr algn="ctr" indent="0" marL="0">
              <a:buNone/>
            </a:pPr>
            <a:r>
              <a:rPr lang="en-US" sz="2200" b="1" dirty="0">
                <a:solidFill>
                  <a:srgbClr val="8B1D4C"/>
                </a:solidFill>
                <a:latin typeface="Cambria" pitchFamily="34" charset="0"/>
                <a:ea typeface="Cambria" pitchFamily="34" charset="-122"/>
                <a:cs typeface="Cambria" pitchFamily="34" charset="-120"/>
              </a:rPr>
              <a:t>116</a:t>
            </a:r>
            <a:endParaRPr lang="en-US" sz="2200" dirty="0"/>
          </a:p>
        </p:txBody>
      </p:sp>
      <p:sp>
        <p:nvSpPr>
          <p:cNvPr id="7" name="Text 5"/>
          <p:cNvSpPr/>
          <p:nvPr/>
        </p:nvSpPr>
        <p:spPr>
          <a:xfrm>
            <a:off x="640080" y="4709160"/>
            <a:ext cx="1737360" cy="320040"/>
          </a:xfrm>
          <a:prstGeom prst="rect">
            <a:avLst/>
          </a:prstGeom>
          <a:noFill/>
          <a:ln/>
        </p:spPr>
        <p:txBody>
          <a:bodyPr wrap="square" rtlCol="0" anchor="ctr"/>
          <a:lstStyle/>
          <a:p>
            <a:pPr algn="ctr" indent="0" marL="0">
              <a:buNone/>
            </a:pPr>
            <a:r>
              <a:rPr lang="en-US" sz="950" b="1" dirty="0">
                <a:solidFill>
                  <a:srgbClr val="8A6A78"/>
                </a:solidFill>
                <a:latin typeface="Calibri" pitchFamily="34" charset="0"/>
                <a:ea typeface="Calibri" pitchFamily="34" charset="-122"/>
                <a:cs typeface="Calibri" pitchFamily="34" charset="-120"/>
              </a:rPr>
              <a:t>BRANDS</a:t>
            </a:r>
            <a:endParaRPr lang="en-US" sz="950" dirty="0"/>
          </a:p>
        </p:txBody>
      </p:sp>
      <p:sp>
        <p:nvSpPr>
          <p:cNvPr id="8" name="Shape 6"/>
          <p:cNvSpPr/>
          <p:nvPr/>
        </p:nvSpPr>
        <p:spPr>
          <a:xfrm>
            <a:off x="2560320" y="4160520"/>
            <a:ext cx="1737360" cy="1051560"/>
          </a:xfrm>
          <a:prstGeom prst="roundRect">
            <a:avLst>
              <a:gd name="adj" fmla="val 6957"/>
            </a:avLst>
          </a:prstGeom>
          <a:solidFill>
            <a:srgbClr val="FDEBF3"/>
          </a:solidFill>
          <a:ln/>
          <a:effectLst>
            <a:outerShdw sx="100000" sy="100000" kx="0" ky="0" algn="bl" rotWithShape="0" blurRad="101600" dist="38100" dir="2700000">
              <a:srgbClr val="000000">
                <a:alpha val="12000"/>
              </a:srgbClr>
            </a:outerShdw>
          </a:effectLst>
        </p:spPr>
      </p:sp>
      <p:sp>
        <p:nvSpPr>
          <p:cNvPr id="9" name="Text 7"/>
          <p:cNvSpPr/>
          <p:nvPr/>
        </p:nvSpPr>
        <p:spPr>
          <a:xfrm>
            <a:off x="2560320" y="4251960"/>
            <a:ext cx="1737360" cy="457200"/>
          </a:xfrm>
          <a:prstGeom prst="rect">
            <a:avLst/>
          </a:prstGeom>
          <a:noFill/>
          <a:ln/>
        </p:spPr>
        <p:txBody>
          <a:bodyPr wrap="square" rtlCol="0" anchor="ctr"/>
          <a:lstStyle/>
          <a:p>
            <a:pPr algn="ctr" indent="0" marL="0">
              <a:buNone/>
            </a:pPr>
            <a:r>
              <a:rPr lang="en-US" sz="2200" b="1" dirty="0">
                <a:solidFill>
                  <a:srgbClr val="8B1D4C"/>
                </a:solidFill>
                <a:latin typeface="Cambria" pitchFamily="34" charset="0"/>
                <a:ea typeface="Cambria" pitchFamily="34" charset="-122"/>
                <a:cs typeface="Cambria" pitchFamily="34" charset="-120"/>
              </a:rPr>
              <a:t>1,472</a:t>
            </a:r>
            <a:endParaRPr lang="en-US" sz="2200" dirty="0"/>
          </a:p>
        </p:txBody>
      </p:sp>
      <p:sp>
        <p:nvSpPr>
          <p:cNvPr id="10" name="Text 8"/>
          <p:cNvSpPr/>
          <p:nvPr/>
        </p:nvSpPr>
        <p:spPr>
          <a:xfrm>
            <a:off x="2560320" y="4709160"/>
            <a:ext cx="1737360" cy="320040"/>
          </a:xfrm>
          <a:prstGeom prst="rect">
            <a:avLst/>
          </a:prstGeom>
          <a:noFill/>
          <a:ln/>
        </p:spPr>
        <p:txBody>
          <a:bodyPr wrap="square" rtlCol="0" anchor="ctr"/>
          <a:lstStyle/>
          <a:p>
            <a:pPr algn="ctr" indent="0" marL="0">
              <a:buNone/>
            </a:pPr>
            <a:r>
              <a:rPr lang="en-US" sz="950" b="1" dirty="0">
                <a:solidFill>
                  <a:srgbClr val="8A6A78"/>
                </a:solidFill>
                <a:latin typeface="Calibri" pitchFamily="34" charset="0"/>
                <a:ea typeface="Calibri" pitchFamily="34" charset="-122"/>
                <a:cs typeface="Calibri" pitchFamily="34" charset="-120"/>
              </a:rPr>
              <a:t>PRODUCTS</a:t>
            </a:r>
            <a:endParaRPr lang="en-US" sz="950" dirty="0"/>
          </a:p>
        </p:txBody>
      </p:sp>
      <p:sp>
        <p:nvSpPr>
          <p:cNvPr id="11" name="Shape 9"/>
          <p:cNvSpPr/>
          <p:nvPr/>
        </p:nvSpPr>
        <p:spPr>
          <a:xfrm>
            <a:off x="4480560" y="4160520"/>
            <a:ext cx="1737360" cy="1051560"/>
          </a:xfrm>
          <a:prstGeom prst="roundRect">
            <a:avLst>
              <a:gd name="adj" fmla="val 6957"/>
            </a:avLst>
          </a:prstGeom>
          <a:solidFill>
            <a:srgbClr val="FDEBF3"/>
          </a:solidFill>
          <a:ln/>
          <a:effectLst>
            <a:outerShdw sx="100000" sy="100000" kx="0" ky="0" algn="bl" rotWithShape="0" blurRad="101600" dist="38100" dir="2700000">
              <a:srgbClr val="000000">
                <a:alpha val="12000"/>
              </a:srgbClr>
            </a:outerShdw>
          </a:effectLst>
        </p:spPr>
      </p:sp>
      <p:sp>
        <p:nvSpPr>
          <p:cNvPr id="12" name="Text 10"/>
          <p:cNvSpPr/>
          <p:nvPr/>
        </p:nvSpPr>
        <p:spPr>
          <a:xfrm>
            <a:off x="4480560" y="4251960"/>
            <a:ext cx="1737360" cy="457200"/>
          </a:xfrm>
          <a:prstGeom prst="rect">
            <a:avLst/>
          </a:prstGeom>
          <a:noFill/>
          <a:ln/>
        </p:spPr>
        <p:txBody>
          <a:bodyPr wrap="square" rtlCol="0" anchor="ctr"/>
          <a:lstStyle/>
          <a:p>
            <a:pPr algn="ctr" indent="0" marL="0">
              <a:buNone/>
            </a:pPr>
            <a:r>
              <a:rPr lang="en-US" sz="2200" b="1" dirty="0">
                <a:solidFill>
                  <a:srgbClr val="8B1D4C"/>
                </a:solidFill>
                <a:latin typeface="Cambria" pitchFamily="34" charset="0"/>
                <a:ea typeface="Cambria" pitchFamily="34" charset="-122"/>
                <a:cs typeface="Cambria" pitchFamily="34" charset="-120"/>
              </a:rPr>
              <a:t>5</a:t>
            </a:r>
            <a:endParaRPr lang="en-US" sz="2200" dirty="0"/>
          </a:p>
        </p:txBody>
      </p:sp>
      <p:sp>
        <p:nvSpPr>
          <p:cNvPr id="13" name="Text 11"/>
          <p:cNvSpPr/>
          <p:nvPr/>
        </p:nvSpPr>
        <p:spPr>
          <a:xfrm>
            <a:off x="4480560" y="4709160"/>
            <a:ext cx="1737360" cy="320040"/>
          </a:xfrm>
          <a:prstGeom prst="rect">
            <a:avLst/>
          </a:prstGeom>
          <a:noFill/>
          <a:ln/>
        </p:spPr>
        <p:txBody>
          <a:bodyPr wrap="square" rtlCol="0" anchor="ctr"/>
          <a:lstStyle/>
          <a:p>
            <a:pPr algn="ctr" indent="0" marL="0">
              <a:buNone/>
            </a:pPr>
            <a:r>
              <a:rPr lang="en-US" sz="950" b="1" dirty="0">
                <a:solidFill>
                  <a:srgbClr val="8A6A78"/>
                </a:solidFill>
                <a:latin typeface="Calibri" pitchFamily="34" charset="0"/>
                <a:ea typeface="Calibri" pitchFamily="34" charset="-122"/>
                <a:cs typeface="Calibri" pitchFamily="34" charset="-120"/>
              </a:rPr>
              <a:t>SKIN TYPES</a:t>
            </a:r>
            <a:endParaRPr lang="en-US" sz="950" dirty="0"/>
          </a:p>
        </p:txBody>
      </p:sp>
      <p:sp>
        <p:nvSpPr>
          <p:cNvPr id="14" name="Shape 12"/>
          <p:cNvSpPr/>
          <p:nvPr/>
        </p:nvSpPr>
        <p:spPr>
          <a:xfrm>
            <a:off x="6537960" y="1143000"/>
            <a:ext cx="5074920" cy="4160520"/>
          </a:xfrm>
          <a:prstGeom prst="roundRect">
            <a:avLst>
              <a:gd name="adj" fmla="val 1099"/>
            </a:avLst>
          </a:prstGeom>
          <a:solidFill>
            <a:srgbClr val="FFFFFF"/>
          </a:solidFill>
          <a:ln w="12700">
            <a:solidFill>
              <a:srgbClr val="F0D6E4"/>
            </a:solidFill>
            <a:prstDash val="solid"/>
          </a:ln>
          <a:effectLst>
            <a:outerShdw sx="100000" sy="100000" kx="0" ky="0" algn="bl" rotWithShape="0" blurRad="101600" dist="38100" dir="2700000">
              <a:srgbClr val="000000">
                <a:alpha val="12000"/>
              </a:srgbClr>
            </a:outerShdw>
          </a:effectLst>
        </p:spPr>
      </p:sp>
      <p:pic>
        <p:nvPicPr>
          <p:cNvPr id="15" name="Image 0" descr="dashboard.png">    </p:cNvPr>
          <p:cNvPicPr>
            <a:picLocks noChangeAspect="1"/>
          </p:cNvPicPr>
          <p:nvPr/>
        </p:nvPicPr>
        <p:blipFill>
          <a:blip r:embed="rId1"/>
          <a:srcRect l="0" r="0" t="-26165" b="-26165"/>
          <a:stretch/>
        </p:blipFill>
        <p:spPr>
          <a:xfrm>
            <a:off x="6675120" y="1280160"/>
            <a:ext cx="4800600" cy="3886200"/>
          </a:xfrm>
          <a:prstGeom prst="rect">
            <a:avLst/>
          </a:prstGeom>
        </p:spPr>
      </p:pic>
      <p:sp>
        <p:nvSpPr>
          <p:cNvPr id="16" name="Text 13"/>
          <p:cNvSpPr/>
          <p:nvPr/>
        </p:nvSpPr>
        <p:spPr>
          <a:xfrm>
            <a:off x="6537960" y="5074920"/>
            <a:ext cx="5074920" cy="274320"/>
          </a:xfrm>
          <a:prstGeom prst="rect">
            <a:avLst/>
          </a:prstGeom>
          <a:noFill/>
          <a:ln/>
        </p:spPr>
        <p:txBody>
          <a:bodyPr wrap="square" rtlCol="0" anchor="ctr"/>
          <a:lstStyle/>
          <a:p>
            <a:pPr algn="ctr" indent="0" marL="0">
              <a:buNone/>
            </a:pPr>
            <a:r>
              <a:rPr lang="en-US" sz="1050" i="1" dirty="0">
                <a:solidFill>
                  <a:srgbClr val="8A6A78"/>
                </a:solidFill>
                <a:latin typeface="Calibri" pitchFamily="34" charset="0"/>
                <a:ea typeface="Calibri" pitchFamily="34" charset="-122"/>
                <a:cs typeface="Calibri" pitchFamily="34" charset="-120"/>
              </a:rPr>
              <a:t>Dashboard Preview</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315200" cy="548640"/>
          </a:xfrm>
          <a:prstGeom prst="rect">
            <a:avLst/>
          </a:prstGeom>
          <a:noFill/>
          <a:ln/>
        </p:spPr>
        <p:txBody>
          <a:bodyPr wrap="square" rtlCol="0" anchor="ctr"/>
          <a:lstStyle/>
          <a:p>
            <a:pPr indent="0" marL="0">
              <a:buNone/>
            </a:pPr>
            <a:r>
              <a:rPr lang="en-US" sz="3000" b="1" dirty="0">
                <a:solidFill>
                  <a:srgbClr val="3A2130"/>
                </a:solidFill>
                <a:latin typeface="Cambria" pitchFamily="34" charset="0"/>
                <a:ea typeface="Cambria" pitchFamily="34" charset="-122"/>
                <a:cs typeface="Cambria" pitchFamily="34" charset="-120"/>
              </a:rPr>
              <a:t>Dashboard Highlights</a:t>
            </a:r>
            <a:endParaRPr lang="en-US" sz="3000" dirty="0"/>
          </a:p>
        </p:txBody>
      </p:sp>
      <p:sp>
        <p:nvSpPr>
          <p:cNvPr id="3" name="Text 1"/>
          <p:cNvSpPr/>
          <p:nvPr/>
        </p:nvSpPr>
        <p:spPr>
          <a:xfrm>
            <a:off x="640080" y="960120"/>
            <a:ext cx="9144000" cy="320040"/>
          </a:xfrm>
          <a:prstGeom prst="rect">
            <a:avLst/>
          </a:prstGeom>
          <a:noFill/>
          <a:ln/>
        </p:spPr>
        <p:txBody>
          <a:bodyPr wrap="square" rtlCol="0" anchor="ctr"/>
          <a:lstStyle/>
          <a:p>
            <a:pPr indent="0" marL="0">
              <a:buNone/>
            </a:pPr>
            <a:r>
              <a:rPr lang="en-US" sz="1300" i="1" dirty="0">
                <a:solidFill>
                  <a:srgbClr val="8A6A78"/>
                </a:solidFill>
                <a:latin typeface="Calibri" pitchFamily="34" charset="0"/>
                <a:ea typeface="Calibri" pitchFamily="34" charset="-122"/>
                <a:cs typeface="Calibri" pitchFamily="34" charset="-120"/>
              </a:rPr>
              <a:t>Five coordinated views turning raw product data into brand and category insight</a:t>
            </a:r>
            <a:endParaRPr lang="en-US" sz="1300" dirty="0"/>
          </a:p>
        </p:txBody>
      </p:sp>
      <p:sp>
        <p:nvSpPr>
          <p:cNvPr id="4" name="Shape 2"/>
          <p:cNvSpPr/>
          <p:nvPr/>
        </p:nvSpPr>
        <p:spPr>
          <a:xfrm>
            <a:off x="640080" y="1508760"/>
            <a:ext cx="3520440" cy="1965960"/>
          </a:xfrm>
          <a:prstGeom prst="roundRect">
            <a:avLst>
              <a:gd name="adj" fmla="val 3256"/>
            </a:avLst>
          </a:prstGeom>
          <a:solidFill>
            <a:srgbClr val="FDEBF3"/>
          </a:solidFill>
          <a:ln/>
          <a:effectLst>
            <a:outerShdw sx="100000" sy="100000" kx="0" ky="0" algn="bl" rotWithShape="0" blurRad="101600" dist="38100" dir="2700000">
              <a:srgbClr val="000000">
                <a:alpha val="12000"/>
              </a:srgbClr>
            </a:outerShdw>
          </a:effectLst>
        </p:spPr>
      </p:sp>
      <p:sp>
        <p:nvSpPr>
          <p:cNvPr id="5" name="Shape 3"/>
          <p:cNvSpPr/>
          <p:nvPr/>
        </p:nvSpPr>
        <p:spPr>
          <a:xfrm>
            <a:off x="868680" y="1737360"/>
            <a:ext cx="548640" cy="548640"/>
          </a:xfrm>
          <a:prstGeom prst="ellipse">
            <a:avLst/>
          </a:prstGeom>
          <a:solidFill>
            <a:srgbClr val="C2185B"/>
          </a:solidFill>
          <a:ln/>
        </p:spPr>
      </p:sp>
      <p:pic>
        <p:nvPicPr>
          <p:cNvPr id="6" name="Image 0" descr="preencoded.png">    </p:cNvPr>
          <p:cNvPicPr>
            <a:picLocks noChangeAspect="1"/>
          </p:cNvPicPr>
          <p:nvPr/>
        </p:nvPicPr>
        <p:blipFill>
          <a:blip r:embed="rId1"/>
          <a:stretch>
            <a:fillRect/>
          </a:stretch>
        </p:blipFill>
        <p:spPr>
          <a:xfrm>
            <a:off x="996696" y="1865376"/>
            <a:ext cx="292608" cy="292608"/>
          </a:xfrm>
          <a:prstGeom prst="rect">
            <a:avLst/>
          </a:prstGeom>
        </p:spPr>
      </p:pic>
      <p:sp>
        <p:nvSpPr>
          <p:cNvPr id="7" name="Text 4"/>
          <p:cNvSpPr/>
          <p:nvPr/>
        </p:nvSpPr>
        <p:spPr>
          <a:xfrm>
            <a:off x="868680" y="2404872"/>
            <a:ext cx="3063240" cy="365760"/>
          </a:xfrm>
          <a:prstGeom prst="rect">
            <a:avLst/>
          </a:prstGeom>
          <a:noFill/>
          <a:ln/>
        </p:spPr>
        <p:txBody>
          <a:bodyPr wrap="square" rtlCol="0" anchor="ctr"/>
          <a:lstStyle/>
          <a:p>
            <a:pPr indent="0" marL="0">
              <a:buNone/>
            </a:pPr>
            <a:r>
              <a:rPr lang="en-US" sz="1350" b="1" dirty="0">
                <a:solidFill>
                  <a:srgbClr val="3A2130"/>
                </a:solidFill>
                <a:latin typeface="Calibri" pitchFamily="34" charset="0"/>
                <a:ea typeface="Calibri" pitchFamily="34" charset="-122"/>
                <a:cs typeface="Calibri" pitchFamily="34" charset="-120"/>
              </a:rPr>
              <a:t>Category Revenue</a:t>
            </a:r>
            <a:endParaRPr lang="en-US" sz="1350" dirty="0"/>
          </a:p>
        </p:txBody>
      </p:sp>
      <p:sp>
        <p:nvSpPr>
          <p:cNvPr id="8" name="Text 5"/>
          <p:cNvSpPr/>
          <p:nvPr/>
        </p:nvSpPr>
        <p:spPr>
          <a:xfrm>
            <a:off x="868680" y="2743200"/>
            <a:ext cx="3063240" cy="640080"/>
          </a:xfrm>
          <a:prstGeom prst="rect">
            <a:avLst/>
          </a:prstGeom>
          <a:noFill/>
          <a:ln/>
        </p:spPr>
        <p:txBody>
          <a:bodyPr wrap="square" rtlCol="0" anchor="ctr"/>
          <a:lstStyle/>
          <a:p>
            <a:pPr indent="0" marL="0">
              <a:lnSpc>
                <a:spcPct val="115000"/>
              </a:lnSpc>
              <a:buNone/>
            </a:pPr>
            <a:r>
              <a:rPr lang="en-US" sz="1050" dirty="0">
                <a:solidFill>
                  <a:srgbClr val="8A6A78"/>
                </a:solidFill>
                <a:latin typeface="Calibri" pitchFamily="34" charset="0"/>
                <a:ea typeface="Calibri" pitchFamily="34" charset="-122"/>
                <a:cs typeface="Calibri" pitchFamily="34" charset="-120"/>
              </a:rPr>
              <a:t>Distribution across Moisturizer, Treatment, Eye Cream, Face Mask, Cleanser, and Sun Protect.</a:t>
            </a:r>
            <a:endParaRPr lang="en-US" sz="1050" dirty="0"/>
          </a:p>
        </p:txBody>
      </p:sp>
      <p:sp>
        <p:nvSpPr>
          <p:cNvPr id="9" name="Shape 6"/>
          <p:cNvSpPr/>
          <p:nvPr/>
        </p:nvSpPr>
        <p:spPr>
          <a:xfrm>
            <a:off x="4389120" y="1508760"/>
            <a:ext cx="3520440" cy="1965960"/>
          </a:xfrm>
          <a:prstGeom prst="roundRect">
            <a:avLst>
              <a:gd name="adj" fmla="val 3256"/>
            </a:avLst>
          </a:prstGeom>
          <a:solidFill>
            <a:srgbClr val="FDEBF3"/>
          </a:solidFill>
          <a:ln/>
          <a:effectLst>
            <a:outerShdw sx="100000" sy="100000" kx="0" ky="0" algn="bl" rotWithShape="0" blurRad="101600" dist="38100" dir="2700000">
              <a:srgbClr val="000000">
                <a:alpha val="12000"/>
              </a:srgbClr>
            </a:outerShdw>
          </a:effectLst>
        </p:spPr>
      </p:sp>
      <p:sp>
        <p:nvSpPr>
          <p:cNvPr id="10" name="Shape 7"/>
          <p:cNvSpPr/>
          <p:nvPr/>
        </p:nvSpPr>
        <p:spPr>
          <a:xfrm>
            <a:off x="4617720" y="1737360"/>
            <a:ext cx="548640" cy="548640"/>
          </a:xfrm>
          <a:prstGeom prst="ellipse">
            <a:avLst/>
          </a:prstGeom>
          <a:solidFill>
            <a:srgbClr val="C2185B"/>
          </a:solidFill>
          <a:ln/>
        </p:spPr>
      </p:sp>
      <p:pic>
        <p:nvPicPr>
          <p:cNvPr id="11" name="Image 1" descr="preencoded.png">    </p:cNvPr>
          <p:cNvPicPr>
            <a:picLocks noChangeAspect="1"/>
          </p:cNvPicPr>
          <p:nvPr/>
        </p:nvPicPr>
        <p:blipFill>
          <a:blip r:embed="rId2"/>
          <a:stretch>
            <a:fillRect/>
          </a:stretch>
        </p:blipFill>
        <p:spPr>
          <a:xfrm>
            <a:off x="4745736" y="1865376"/>
            <a:ext cx="292608" cy="292608"/>
          </a:xfrm>
          <a:prstGeom prst="rect">
            <a:avLst/>
          </a:prstGeom>
        </p:spPr>
      </p:pic>
      <p:sp>
        <p:nvSpPr>
          <p:cNvPr id="12" name="Text 8"/>
          <p:cNvSpPr/>
          <p:nvPr/>
        </p:nvSpPr>
        <p:spPr>
          <a:xfrm>
            <a:off x="4617720" y="2404872"/>
            <a:ext cx="3063240" cy="365760"/>
          </a:xfrm>
          <a:prstGeom prst="rect">
            <a:avLst/>
          </a:prstGeom>
          <a:noFill/>
          <a:ln/>
        </p:spPr>
        <p:txBody>
          <a:bodyPr wrap="square" rtlCol="0" anchor="ctr"/>
          <a:lstStyle/>
          <a:p>
            <a:pPr indent="0" marL="0">
              <a:buNone/>
            </a:pPr>
            <a:r>
              <a:rPr lang="en-US" sz="1350" b="1" dirty="0">
                <a:solidFill>
                  <a:srgbClr val="3A2130"/>
                </a:solidFill>
                <a:latin typeface="Calibri" pitchFamily="34" charset="0"/>
                <a:ea typeface="Calibri" pitchFamily="34" charset="-122"/>
                <a:cs typeface="Calibri" pitchFamily="34" charset="-120"/>
              </a:rPr>
              <a:t>Top Brands (All Skin Types)</a:t>
            </a:r>
            <a:endParaRPr lang="en-US" sz="1350" dirty="0"/>
          </a:p>
        </p:txBody>
      </p:sp>
      <p:sp>
        <p:nvSpPr>
          <p:cNvPr id="13" name="Text 9"/>
          <p:cNvSpPr/>
          <p:nvPr/>
        </p:nvSpPr>
        <p:spPr>
          <a:xfrm>
            <a:off x="4617720" y="2743200"/>
            <a:ext cx="3063240" cy="640080"/>
          </a:xfrm>
          <a:prstGeom prst="rect">
            <a:avLst/>
          </a:prstGeom>
          <a:noFill/>
          <a:ln/>
        </p:spPr>
        <p:txBody>
          <a:bodyPr wrap="square" rtlCol="0" anchor="ctr"/>
          <a:lstStyle/>
          <a:p>
            <a:pPr indent="0" marL="0">
              <a:lnSpc>
                <a:spcPct val="115000"/>
              </a:lnSpc>
              <a:buNone/>
            </a:pPr>
            <a:r>
              <a:rPr lang="en-US" sz="1050" dirty="0">
                <a:solidFill>
                  <a:srgbClr val="8A6A78"/>
                </a:solidFill>
                <a:latin typeface="Calibri" pitchFamily="34" charset="0"/>
                <a:ea typeface="Calibri" pitchFamily="34" charset="-122"/>
                <a:cs typeface="Calibri" pitchFamily="34" charset="-120"/>
              </a:rPr>
              <a:t>Ranked bar chart of leading brands — KATE, MUSAQ, SHISEI, DIOR, SEPH, PETER, KIEHL, DR. JA, and more.</a:t>
            </a:r>
            <a:endParaRPr lang="en-US" sz="1050" dirty="0"/>
          </a:p>
        </p:txBody>
      </p:sp>
      <p:sp>
        <p:nvSpPr>
          <p:cNvPr id="14" name="Shape 10"/>
          <p:cNvSpPr/>
          <p:nvPr/>
        </p:nvSpPr>
        <p:spPr>
          <a:xfrm>
            <a:off x="8138160" y="1508760"/>
            <a:ext cx="3520440" cy="1965960"/>
          </a:xfrm>
          <a:prstGeom prst="roundRect">
            <a:avLst>
              <a:gd name="adj" fmla="val 3256"/>
            </a:avLst>
          </a:prstGeom>
          <a:solidFill>
            <a:srgbClr val="FDEBF3"/>
          </a:solidFill>
          <a:ln/>
          <a:effectLst>
            <a:outerShdw sx="100000" sy="100000" kx="0" ky="0" algn="bl" rotWithShape="0" blurRad="101600" dist="38100" dir="2700000">
              <a:srgbClr val="000000">
                <a:alpha val="12000"/>
              </a:srgbClr>
            </a:outerShdw>
          </a:effectLst>
        </p:spPr>
      </p:sp>
      <p:sp>
        <p:nvSpPr>
          <p:cNvPr id="15" name="Shape 11"/>
          <p:cNvSpPr/>
          <p:nvPr/>
        </p:nvSpPr>
        <p:spPr>
          <a:xfrm>
            <a:off x="8366760" y="1737360"/>
            <a:ext cx="548640" cy="548640"/>
          </a:xfrm>
          <a:prstGeom prst="ellipse">
            <a:avLst/>
          </a:prstGeom>
          <a:solidFill>
            <a:srgbClr val="C2185B"/>
          </a:solidFill>
          <a:ln/>
        </p:spPr>
      </p:sp>
      <p:pic>
        <p:nvPicPr>
          <p:cNvPr id="16" name="Image 2" descr="preencoded.png">    </p:cNvPr>
          <p:cNvPicPr>
            <a:picLocks noChangeAspect="1"/>
          </p:cNvPicPr>
          <p:nvPr/>
        </p:nvPicPr>
        <p:blipFill>
          <a:blip r:embed="rId3"/>
          <a:stretch>
            <a:fillRect/>
          </a:stretch>
        </p:blipFill>
        <p:spPr>
          <a:xfrm>
            <a:off x="8494776" y="1865376"/>
            <a:ext cx="292608" cy="292608"/>
          </a:xfrm>
          <a:prstGeom prst="rect">
            <a:avLst/>
          </a:prstGeom>
        </p:spPr>
      </p:pic>
      <p:sp>
        <p:nvSpPr>
          <p:cNvPr id="17" name="Text 12"/>
          <p:cNvSpPr/>
          <p:nvPr/>
        </p:nvSpPr>
        <p:spPr>
          <a:xfrm>
            <a:off x="8366760" y="2404872"/>
            <a:ext cx="3063240" cy="365760"/>
          </a:xfrm>
          <a:prstGeom prst="rect">
            <a:avLst/>
          </a:prstGeom>
          <a:noFill/>
          <a:ln/>
        </p:spPr>
        <p:txBody>
          <a:bodyPr wrap="square" rtlCol="0" anchor="ctr"/>
          <a:lstStyle/>
          <a:p>
            <a:pPr indent="0" marL="0">
              <a:buNone/>
            </a:pPr>
            <a:r>
              <a:rPr lang="en-US" sz="1350" b="1" dirty="0">
                <a:solidFill>
                  <a:srgbClr val="3A2130"/>
                </a:solidFill>
                <a:latin typeface="Calibri" pitchFamily="34" charset="0"/>
                <a:ea typeface="Calibri" pitchFamily="34" charset="-122"/>
                <a:cs typeface="Calibri" pitchFamily="34" charset="-120"/>
              </a:rPr>
              <a:t>Category Product Distribution</a:t>
            </a:r>
            <a:endParaRPr lang="en-US" sz="1350" dirty="0"/>
          </a:p>
        </p:txBody>
      </p:sp>
      <p:sp>
        <p:nvSpPr>
          <p:cNvPr id="18" name="Text 13"/>
          <p:cNvSpPr/>
          <p:nvPr/>
        </p:nvSpPr>
        <p:spPr>
          <a:xfrm>
            <a:off x="8366760" y="2743200"/>
            <a:ext cx="3063240" cy="640080"/>
          </a:xfrm>
          <a:prstGeom prst="rect">
            <a:avLst/>
          </a:prstGeom>
          <a:noFill/>
          <a:ln/>
        </p:spPr>
        <p:txBody>
          <a:bodyPr wrap="square" rtlCol="0" anchor="ctr"/>
          <a:lstStyle/>
          <a:p>
            <a:pPr indent="0" marL="0">
              <a:lnSpc>
                <a:spcPct val="115000"/>
              </a:lnSpc>
              <a:buNone/>
            </a:pPr>
            <a:r>
              <a:rPr lang="en-US" sz="1050" dirty="0">
                <a:solidFill>
                  <a:srgbClr val="8A6A78"/>
                </a:solidFill>
                <a:latin typeface="Calibri" pitchFamily="34" charset="0"/>
                <a:ea typeface="Calibri" pitchFamily="34" charset="-122"/>
                <a:cs typeface="Calibri" pitchFamily="34" charset="-120"/>
              </a:rPr>
              <a:t>Horizontal bar breakdown by product label across all six categories.</a:t>
            </a:r>
            <a:endParaRPr lang="en-US" sz="1050" dirty="0"/>
          </a:p>
        </p:txBody>
      </p:sp>
      <p:sp>
        <p:nvSpPr>
          <p:cNvPr id="19" name="Shape 14"/>
          <p:cNvSpPr/>
          <p:nvPr/>
        </p:nvSpPr>
        <p:spPr>
          <a:xfrm>
            <a:off x="2514600" y="3703320"/>
            <a:ext cx="3520440" cy="1965960"/>
          </a:xfrm>
          <a:prstGeom prst="roundRect">
            <a:avLst>
              <a:gd name="adj" fmla="val 3256"/>
            </a:avLst>
          </a:prstGeom>
          <a:solidFill>
            <a:srgbClr val="FDEBF3"/>
          </a:solidFill>
          <a:ln/>
          <a:effectLst>
            <a:outerShdw sx="100000" sy="100000" kx="0" ky="0" algn="bl" rotWithShape="0" blurRad="101600" dist="38100" dir="2700000">
              <a:srgbClr val="000000">
                <a:alpha val="12000"/>
              </a:srgbClr>
            </a:outerShdw>
          </a:effectLst>
        </p:spPr>
      </p:sp>
      <p:sp>
        <p:nvSpPr>
          <p:cNvPr id="20" name="Shape 15"/>
          <p:cNvSpPr/>
          <p:nvPr/>
        </p:nvSpPr>
        <p:spPr>
          <a:xfrm>
            <a:off x="2743200" y="3931920"/>
            <a:ext cx="548640" cy="548640"/>
          </a:xfrm>
          <a:prstGeom prst="ellipse">
            <a:avLst/>
          </a:prstGeom>
          <a:solidFill>
            <a:srgbClr val="C2185B"/>
          </a:solidFill>
          <a:ln/>
        </p:spPr>
      </p:sp>
      <p:pic>
        <p:nvPicPr>
          <p:cNvPr id="21" name="Image 3" descr="preencoded.png">    </p:cNvPr>
          <p:cNvPicPr>
            <a:picLocks noChangeAspect="1"/>
          </p:cNvPicPr>
          <p:nvPr/>
        </p:nvPicPr>
        <p:blipFill>
          <a:blip r:embed="rId4"/>
          <a:stretch>
            <a:fillRect/>
          </a:stretch>
        </p:blipFill>
        <p:spPr>
          <a:xfrm>
            <a:off x="2871216" y="4059936"/>
            <a:ext cx="292608" cy="292608"/>
          </a:xfrm>
          <a:prstGeom prst="rect">
            <a:avLst/>
          </a:prstGeom>
        </p:spPr>
      </p:pic>
      <p:sp>
        <p:nvSpPr>
          <p:cNvPr id="22" name="Text 16"/>
          <p:cNvSpPr/>
          <p:nvPr/>
        </p:nvSpPr>
        <p:spPr>
          <a:xfrm>
            <a:off x="2743200" y="4599432"/>
            <a:ext cx="3063240" cy="365760"/>
          </a:xfrm>
          <a:prstGeom prst="rect">
            <a:avLst/>
          </a:prstGeom>
          <a:noFill/>
          <a:ln/>
        </p:spPr>
        <p:txBody>
          <a:bodyPr wrap="square" rtlCol="0" anchor="ctr"/>
          <a:lstStyle/>
          <a:p>
            <a:pPr indent="0" marL="0">
              <a:buNone/>
            </a:pPr>
            <a:r>
              <a:rPr lang="en-US" sz="1350" b="1" dirty="0">
                <a:solidFill>
                  <a:srgbClr val="3A2130"/>
                </a:solidFill>
                <a:latin typeface="Calibri" pitchFamily="34" charset="0"/>
                <a:ea typeface="Calibri" pitchFamily="34" charset="-122"/>
                <a:cs typeface="Calibri" pitchFamily="34" charset="-120"/>
              </a:rPr>
              <a:t>Top Brands by Count</a:t>
            </a:r>
            <a:endParaRPr lang="en-US" sz="1350" dirty="0"/>
          </a:p>
        </p:txBody>
      </p:sp>
      <p:sp>
        <p:nvSpPr>
          <p:cNvPr id="23" name="Text 17"/>
          <p:cNvSpPr/>
          <p:nvPr/>
        </p:nvSpPr>
        <p:spPr>
          <a:xfrm>
            <a:off x="2743200" y="4937760"/>
            <a:ext cx="3063240" cy="640080"/>
          </a:xfrm>
          <a:prstGeom prst="rect">
            <a:avLst/>
          </a:prstGeom>
          <a:noFill/>
          <a:ln/>
        </p:spPr>
        <p:txBody>
          <a:bodyPr wrap="square" rtlCol="0" anchor="ctr"/>
          <a:lstStyle/>
          <a:p>
            <a:pPr indent="0" marL="0">
              <a:lnSpc>
                <a:spcPct val="115000"/>
              </a:lnSpc>
              <a:buNone/>
            </a:pPr>
            <a:r>
              <a:rPr lang="en-US" sz="1050" dirty="0">
                <a:solidFill>
                  <a:srgbClr val="8A6A78"/>
                </a:solidFill>
                <a:latin typeface="Calibri" pitchFamily="34" charset="0"/>
                <a:ea typeface="Calibri" pitchFamily="34" charset="-122"/>
                <a:cs typeface="Calibri" pitchFamily="34" charset="-120"/>
              </a:rPr>
              <a:t>Highest product-count brands — Clinique, Sephora Collection, Shiseido, Origins, Murad, Peter Thomas Roth, Kiehl's.</a:t>
            </a:r>
            <a:endParaRPr lang="en-US" sz="1050" dirty="0"/>
          </a:p>
        </p:txBody>
      </p:sp>
      <p:sp>
        <p:nvSpPr>
          <p:cNvPr id="24" name="Shape 18"/>
          <p:cNvSpPr/>
          <p:nvPr/>
        </p:nvSpPr>
        <p:spPr>
          <a:xfrm>
            <a:off x="6263640" y="3703320"/>
            <a:ext cx="3520440" cy="1965960"/>
          </a:xfrm>
          <a:prstGeom prst="roundRect">
            <a:avLst>
              <a:gd name="adj" fmla="val 3256"/>
            </a:avLst>
          </a:prstGeom>
          <a:solidFill>
            <a:srgbClr val="FDEBF3"/>
          </a:solidFill>
          <a:ln/>
          <a:effectLst>
            <a:outerShdw sx="100000" sy="100000" kx="0" ky="0" algn="bl" rotWithShape="0" blurRad="101600" dist="38100" dir="2700000">
              <a:srgbClr val="000000">
                <a:alpha val="12000"/>
              </a:srgbClr>
            </a:outerShdw>
          </a:effectLst>
        </p:spPr>
      </p:sp>
      <p:sp>
        <p:nvSpPr>
          <p:cNvPr id="25" name="Shape 19"/>
          <p:cNvSpPr/>
          <p:nvPr/>
        </p:nvSpPr>
        <p:spPr>
          <a:xfrm>
            <a:off x="6492240" y="3931920"/>
            <a:ext cx="548640" cy="548640"/>
          </a:xfrm>
          <a:prstGeom prst="ellipse">
            <a:avLst/>
          </a:prstGeom>
          <a:solidFill>
            <a:srgbClr val="C2185B"/>
          </a:solidFill>
          <a:ln/>
        </p:spPr>
      </p:sp>
      <p:pic>
        <p:nvPicPr>
          <p:cNvPr id="26" name="Image 4" descr="preencoded.png">    </p:cNvPr>
          <p:cNvPicPr>
            <a:picLocks noChangeAspect="1"/>
          </p:cNvPicPr>
          <p:nvPr/>
        </p:nvPicPr>
        <p:blipFill>
          <a:blip r:embed="rId5"/>
          <a:stretch>
            <a:fillRect/>
          </a:stretch>
        </p:blipFill>
        <p:spPr>
          <a:xfrm>
            <a:off x="6620256" y="4059936"/>
            <a:ext cx="292608" cy="292608"/>
          </a:xfrm>
          <a:prstGeom prst="rect">
            <a:avLst/>
          </a:prstGeom>
        </p:spPr>
      </p:pic>
      <p:sp>
        <p:nvSpPr>
          <p:cNvPr id="27" name="Text 20"/>
          <p:cNvSpPr/>
          <p:nvPr/>
        </p:nvSpPr>
        <p:spPr>
          <a:xfrm>
            <a:off x="6492240" y="4599432"/>
            <a:ext cx="3063240" cy="365760"/>
          </a:xfrm>
          <a:prstGeom prst="rect">
            <a:avLst/>
          </a:prstGeom>
          <a:noFill/>
          <a:ln/>
        </p:spPr>
        <p:txBody>
          <a:bodyPr wrap="square" rtlCol="0" anchor="ctr"/>
          <a:lstStyle/>
          <a:p>
            <a:pPr indent="0" marL="0">
              <a:buNone/>
            </a:pPr>
            <a:r>
              <a:rPr lang="en-US" sz="1350" b="1" dirty="0">
                <a:solidFill>
                  <a:srgbClr val="3A2130"/>
                </a:solidFill>
                <a:latin typeface="Calibri" pitchFamily="34" charset="0"/>
                <a:ea typeface="Calibri" pitchFamily="34" charset="-122"/>
                <a:cs typeface="Calibri" pitchFamily="34" charset="-120"/>
              </a:rPr>
              <a:t>Combination Skin Distribution</a:t>
            </a:r>
            <a:endParaRPr lang="en-US" sz="1350" dirty="0"/>
          </a:p>
        </p:txBody>
      </p:sp>
      <p:sp>
        <p:nvSpPr>
          <p:cNvPr id="28" name="Text 21"/>
          <p:cNvSpPr/>
          <p:nvPr/>
        </p:nvSpPr>
        <p:spPr>
          <a:xfrm>
            <a:off x="6492240" y="4937760"/>
            <a:ext cx="3063240" cy="640080"/>
          </a:xfrm>
          <a:prstGeom prst="rect">
            <a:avLst/>
          </a:prstGeom>
          <a:noFill/>
          <a:ln/>
        </p:spPr>
        <p:txBody>
          <a:bodyPr wrap="square" rtlCol="0" anchor="ctr"/>
          <a:lstStyle/>
          <a:p>
            <a:pPr indent="0" marL="0">
              <a:lnSpc>
                <a:spcPct val="115000"/>
              </a:lnSpc>
              <a:buNone/>
            </a:pPr>
            <a:r>
              <a:rPr lang="en-US" sz="1050" dirty="0">
                <a:solidFill>
                  <a:srgbClr val="8A6A78"/>
                </a:solidFill>
                <a:latin typeface="Calibri" pitchFamily="34" charset="0"/>
                <a:ea typeface="Calibri" pitchFamily="34" charset="-122"/>
                <a:cs typeface="Calibri" pitchFamily="34" charset="-120"/>
              </a:rPr>
              <a:t>Packed bubble chart visualizing product spread across categories for combination skin type.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8B1D4C"/>
        </a:solidFill>
      </p:bgPr>
    </p:bg>
    <p:spTree>
      <p:nvGrpSpPr>
        <p:cNvPr id="1" name=""/>
        <p:cNvGrpSpPr/>
        <p:nvPr/>
      </p:nvGrpSpPr>
      <p:grpSpPr>
        <a:xfrm>
          <a:off x="0" y="0"/>
          <a:ext cx="0" cy="0"/>
          <a:chOff x="0" y="0"/>
          <a:chExt cx="0" cy="0"/>
        </a:xfrm>
      </p:grpSpPr>
      <p:sp>
        <p:nvSpPr>
          <p:cNvPr id="2" name="Shape 0"/>
          <p:cNvSpPr/>
          <p:nvPr/>
        </p:nvSpPr>
        <p:spPr>
          <a:xfrm>
            <a:off x="10241280" y="4389120"/>
            <a:ext cx="3657600" cy="3657600"/>
          </a:xfrm>
          <a:prstGeom prst="ellipse">
            <a:avLst/>
          </a:prstGeom>
          <a:solidFill>
            <a:srgbClr val="C2185B">
              <a:alpha val="40000"/>
            </a:srgbClr>
          </a:solidFill>
          <a:ln/>
        </p:spPr>
      </p:sp>
      <p:sp>
        <p:nvSpPr>
          <p:cNvPr id="3" name="Text 1"/>
          <p:cNvSpPr/>
          <p:nvPr/>
        </p:nvSpPr>
        <p:spPr>
          <a:xfrm>
            <a:off x="640080" y="502920"/>
            <a:ext cx="7315200" cy="5486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Design Approach</a:t>
            </a:r>
            <a:endParaRPr lang="en-US" sz="3000" dirty="0"/>
          </a:p>
        </p:txBody>
      </p:sp>
      <p:sp>
        <p:nvSpPr>
          <p:cNvPr id="4" name="Text 2"/>
          <p:cNvSpPr/>
          <p:nvPr/>
        </p:nvSpPr>
        <p:spPr>
          <a:xfrm>
            <a:off x="640080" y="1051560"/>
            <a:ext cx="8229600" cy="320040"/>
          </a:xfrm>
          <a:prstGeom prst="rect">
            <a:avLst/>
          </a:prstGeom>
          <a:noFill/>
          <a:ln/>
        </p:spPr>
        <p:txBody>
          <a:bodyPr wrap="square" rtlCol="0" anchor="ctr"/>
          <a:lstStyle/>
          <a:p>
            <a:pPr indent="0" marL="0">
              <a:buNone/>
            </a:pPr>
            <a:r>
              <a:rPr lang="en-US" sz="1300" i="1" dirty="0">
                <a:solidFill>
                  <a:srgbClr val="F4C6DE"/>
                </a:solidFill>
                <a:latin typeface="Calibri" pitchFamily="34" charset="0"/>
                <a:ea typeface="Calibri" pitchFamily="34" charset="-122"/>
                <a:cs typeface="Calibri" pitchFamily="34" charset="-120"/>
              </a:rPr>
              <a:t>Turning raw data into a polished, on-brand deliverable</a:t>
            </a:r>
            <a:endParaRPr lang="en-US" sz="1300" dirty="0"/>
          </a:p>
        </p:txBody>
      </p:sp>
      <p:sp>
        <p:nvSpPr>
          <p:cNvPr id="5" name="Shape 3"/>
          <p:cNvSpPr/>
          <p:nvPr/>
        </p:nvSpPr>
        <p:spPr>
          <a:xfrm>
            <a:off x="640080" y="1691640"/>
            <a:ext cx="411480" cy="411480"/>
          </a:xfrm>
          <a:prstGeom prst="ellipse">
            <a:avLst/>
          </a:prstGeom>
          <a:solidFill>
            <a:srgbClr val="E91E8C"/>
          </a:solidFill>
          <a:ln/>
        </p:spPr>
      </p:sp>
      <p:pic>
        <p:nvPicPr>
          <p:cNvPr id="6" name="Image 0" descr="preencoded.png">    </p:cNvPr>
          <p:cNvPicPr>
            <a:picLocks noChangeAspect="1"/>
          </p:cNvPicPr>
          <p:nvPr/>
        </p:nvPicPr>
        <p:blipFill>
          <a:blip r:embed="rId1"/>
          <a:stretch>
            <a:fillRect/>
          </a:stretch>
        </p:blipFill>
        <p:spPr>
          <a:xfrm>
            <a:off x="781812" y="1833372"/>
            <a:ext cx="146304" cy="146304"/>
          </a:xfrm>
          <a:prstGeom prst="rect">
            <a:avLst/>
          </a:prstGeom>
        </p:spPr>
      </p:pic>
      <p:sp>
        <p:nvSpPr>
          <p:cNvPr id="7" name="Text 4"/>
          <p:cNvSpPr/>
          <p:nvPr/>
        </p:nvSpPr>
        <p:spPr>
          <a:xfrm>
            <a:off x="1234440" y="1636776"/>
            <a:ext cx="685800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Consistent Color Encoding</a:t>
            </a:r>
            <a:endParaRPr lang="en-US" sz="1500" dirty="0"/>
          </a:p>
        </p:txBody>
      </p:sp>
      <p:sp>
        <p:nvSpPr>
          <p:cNvPr id="8" name="Text 5"/>
          <p:cNvSpPr/>
          <p:nvPr/>
        </p:nvSpPr>
        <p:spPr>
          <a:xfrm>
            <a:off x="1234440" y="1984248"/>
            <a:ext cx="6858000" cy="457200"/>
          </a:xfrm>
          <a:prstGeom prst="rect">
            <a:avLst/>
          </a:prstGeom>
          <a:noFill/>
          <a:ln/>
        </p:spPr>
        <p:txBody>
          <a:bodyPr wrap="square" rtlCol="0" anchor="ctr"/>
          <a:lstStyle/>
          <a:p>
            <a:pPr indent="0" marL="0">
              <a:lnSpc>
                <a:spcPct val="115000"/>
              </a:lnSpc>
              <a:buNone/>
            </a:pPr>
            <a:r>
              <a:rPr lang="en-US" sz="1150" dirty="0">
                <a:solidFill>
                  <a:srgbClr val="EAD3DF"/>
                </a:solidFill>
                <a:latin typeface="Calibri" pitchFamily="34" charset="0"/>
                <a:ea typeface="Calibri" pitchFamily="34" charset="-122"/>
                <a:cs typeface="Calibri" pitchFamily="34" charset="-120"/>
              </a:rPr>
              <a:t>Each product category maps to the same color across every chart, enabling analysis at a glance.</a:t>
            </a:r>
            <a:endParaRPr lang="en-US" sz="1150" dirty="0"/>
          </a:p>
        </p:txBody>
      </p:sp>
      <p:sp>
        <p:nvSpPr>
          <p:cNvPr id="9" name="Shape 6"/>
          <p:cNvSpPr/>
          <p:nvPr/>
        </p:nvSpPr>
        <p:spPr>
          <a:xfrm>
            <a:off x="640080" y="2770632"/>
            <a:ext cx="411480" cy="411480"/>
          </a:xfrm>
          <a:prstGeom prst="ellipse">
            <a:avLst/>
          </a:prstGeom>
          <a:solidFill>
            <a:srgbClr val="E91E8C"/>
          </a:solidFill>
          <a:ln/>
        </p:spPr>
      </p:sp>
      <p:pic>
        <p:nvPicPr>
          <p:cNvPr id="10" name="Image 1" descr="preencoded.png">    </p:cNvPr>
          <p:cNvPicPr>
            <a:picLocks noChangeAspect="1"/>
          </p:cNvPicPr>
          <p:nvPr/>
        </p:nvPicPr>
        <p:blipFill>
          <a:blip r:embed="rId2"/>
          <a:stretch>
            <a:fillRect/>
          </a:stretch>
        </p:blipFill>
        <p:spPr>
          <a:xfrm>
            <a:off x="781812" y="2912364"/>
            <a:ext cx="146304" cy="146304"/>
          </a:xfrm>
          <a:prstGeom prst="rect">
            <a:avLst/>
          </a:prstGeom>
        </p:spPr>
      </p:pic>
      <p:sp>
        <p:nvSpPr>
          <p:cNvPr id="11" name="Text 7"/>
          <p:cNvSpPr/>
          <p:nvPr/>
        </p:nvSpPr>
        <p:spPr>
          <a:xfrm>
            <a:off x="1234440" y="2715768"/>
            <a:ext cx="685800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Clean KPI Summary Layer</a:t>
            </a:r>
            <a:endParaRPr lang="en-US" sz="1500" dirty="0"/>
          </a:p>
        </p:txBody>
      </p:sp>
      <p:sp>
        <p:nvSpPr>
          <p:cNvPr id="12" name="Text 8"/>
          <p:cNvSpPr/>
          <p:nvPr/>
        </p:nvSpPr>
        <p:spPr>
          <a:xfrm>
            <a:off x="1234440" y="3063240"/>
            <a:ext cx="6858000" cy="457200"/>
          </a:xfrm>
          <a:prstGeom prst="rect">
            <a:avLst/>
          </a:prstGeom>
          <a:noFill/>
          <a:ln/>
        </p:spPr>
        <p:txBody>
          <a:bodyPr wrap="square" rtlCol="0" anchor="ctr"/>
          <a:lstStyle/>
          <a:p>
            <a:pPr indent="0" marL="0">
              <a:lnSpc>
                <a:spcPct val="115000"/>
              </a:lnSpc>
              <a:buNone/>
            </a:pPr>
            <a:r>
              <a:rPr lang="en-US" sz="1150" dirty="0">
                <a:solidFill>
                  <a:srgbClr val="EAD3DF"/>
                </a:solidFill>
                <a:latin typeface="Calibri" pitchFamily="34" charset="0"/>
                <a:ea typeface="Calibri" pitchFamily="34" charset="-122"/>
                <a:cs typeface="Calibri" pitchFamily="34" charset="-120"/>
              </a:rPr>
              <a:t>Quick, at-a-glance insights presented before diving into detail.</a:t>
            </a:r>
            <a:endParaRPr lang="en-US" sz="1150" dirty="0"/>
          </a:p>
        </p:txBody>
      </p:sp>
      <p:sp>
        <p:nvSpPr>
          <p:cNvPr id="13" name="Shape 9"/>
          <p:cNvSpPr/>
          <p:nvPr/>
        </p:nvSpPr>
        <p:spPr>
          <a:xfrm>
            <a:off x="640080" y="3849624"/>
            <a:ext cx="411480" cy="411480"/>
          </a:xfrm>
          <a:prstGeom prst="ellipse">
            <a:avLst/>
          </a:prstGeom>
          <a:solidFill>
            <a:srgbClr val="E91E8C"/>
          </a:solidFill>
          <a:ln/>
        </p:spPr>
      </p:sp>
      <p:pic>
        <p:nvPicPr>
          <p:cNvPr id="14" name="Image 2" descr="preencoded.png">    </p:cNvPr>
          <p:cNvPicPr>
            <a:picLocks noChangeAspect="1"/>
          </p:cNvPicPr>
          <p:nvPr/>
        </p:nvPicPr>
        <p:blipFill>
          <a:blip r:embed="rId3"/>
          <a:stretch>
            <a:fillRect/>
          </a:stretch>
        </p:blipFill>
        <p:spPr>
          <a:xfrm>
            <a:off x="781812" y="3991356"/>
            <a:ext cx="146304" cy="146304"/>
          </a:xfrm>
          <a:prstGeom prst="rect">
            <a:avLst/>
          </a:prstGeom>
        </p:spPr>
      </p:pic>
      <p:sp>
        <p:nvSpPr>
          <p:cNvPr id="15" name="Text 10"/>
          <p:cNvSpPr/>
          <p:nvPr/>
        </p:nvSpPr>
        <p:spPr>
          <a:xfrm>
            <a:off x="1234440" y="3794760"/>
            <a:ext cx="685800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Thoughtful Layout Hierarchy</a:t>
            </a:r>
            <a:endParaRPr lang="en-US" sz="1500" dirty="0"/>
          </a:p>
        </p:txBody>
      </p:sp>
      <p:sp>
        <p:nvSpPr>
          <p:cNvPr id="16" name="Text 11"/>
          <p:cNvSpPr/>
          <p:nvPr/>
        </p:nvSpPr>
        <p:spPr>
          <a:xfrm>
            <a:off x="1234440" y="4142232"/>
            <a:ext cx="6858000" cy="457200"/>
          </a:xfrm>
          <a:prstGeom prst="rect">
            <a:avLst/>
          </a:prstGeom>
          <a:noFill/>
          <a:ln/>
        </p:spPr>
        <p:txBody>
          <a:bodyPr wrap="square" rtlCol="0" anchor="ctr"/>
          <a:lstStyle/>
          <a:p>
            <a:pPr indent="0" marL="0">
              <a:lnSpc>
                <a:spcPct val="115000"/>
              </a:lnSpc>
              <a:buNone/>
            </a:pPr>
            <a:r>
              <a:rPr lang="en-US" sz="1150" dirty="0">
                <a:solidFill>
                  <a:srgbClr val="EAD3DF"/>
                </a:solidFill>
                <a:latin typeface="Calibri" pitchFamily="34" charset="0"/>
                <a:ea typeface="Calibri" pitchFamily="34" charset="-122"/>
                <a:cs typeface="Calibri" pitchFamily="34" charset="-120"/>
              </a:rPr>
              <a:t>Guides the viewer from high-level metrics down to granular breakdowns.</a:t>
            </a:r>
            <a:endParaRPr lang="en-US" sz="1150" dirty="0"/>
          </a:p>
        </p:txBody>
      </p:sp>
      <p:sp>
        <p:nvSpPr>
          <p:cNvPr id="17" name="Shape 12"/>
          <p:cNvSpPr/>
          <p:nvPr/>
        </p:nvSpPr>
        <p:spPr>
          <a:xfrm>
            <a:off x="640080" y="4928616"/>
            <a:ext cx="411480" cy="411480"/>
          </a:xfrm>
          <a:prstGeom prst="ellipse">
            <a:avLst/>
          </a:prstGeom>
          <a:solidFill>
            <a:srgbClr val="E91E8C"/>
          </a:solidFill>
          <a:ln/>
        </p:spPr>
      </p:sp>
      <p:pic>
        <p:nvPicPr>
          <p:cNvPr id="18" name="Image 3" descr="preencoded.png">    </p:cNvPr>
          <p:cNvPicPr>
            <a:picLocks noChangeAspect="1"/>
          </p:cNvPicPr>
          <p:nvPr/>
        </p:nvPicPr>
        <p:blipFill>
          <a:blip r:embed="rId4"/>
          <a:stretch>
            <a:fillRect/>
          </a:stretch>
        </p:blipFill>
        <p:spPr>
          <a:xfrm>
            <a:off x="781812" y="5070348"/>
            <a:ext cx="146304" cy="146304"/>
          </a:xfrm>
          <a:prstGeom prst="rect">
            <a:avLst/>
          </a:prstGeom>
        </p:spPr>
      </p:pic>
      <p:sp>
        <p:nvSpPr>
          <p:cNvPr id="19" name="Text 13"/>
          <p:cNvSpPr/>
          <p:nvPr/>
        </p:nvSpPr>
        <p:spPr>
          <a:xfrm>
            <a:off x="1234440" y="4873752"/>
            <a:ext cx="685800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Cohesive Visual Theme</a:t>
            </a:r>
            <a:endParaRPr lang="en-US" sz="1500" dirty="0"/>
          </a:p>
        </p:txBody>
      </p:sp>
      <p:sp>
        <p:nvSpPr>
          <p:cNvPr id="20" name="Text 14"/>
          <p:cNvSpPr/>
          <p:nvPr/>
        </p:nvSpPr>
        <p:spPr>
          <a:xfrm>
            <a:off x="1234440" y="5221224"/>
            <a:ext cx="6858000" cy="457200"/>
          </a:xfrm>
          <a:prstGeom prst="rect">
            <a:avLst/>
          </a:prstGeom>
          <a:noFill/>
          <a:ln/>
        </p:spPr>
        <p:txBody>
          <a:bodyPr wrap="square" rtlCol="0" anchor="ctr"/>
          <a:lstStyle/>
          <a:p>
            <a:pPr indent="0" marL="0">
              <a:lnSpc>
                <a:spcPct val="115000"/>
              </a:lnSpc>
              <a:buNone/>
            </a:pPr>
            <a:r>
              <a:rPr lang="en-US" sz="1150" dirty="0">
                <a:solidFill>
                  <a:srgbClr val="EAD3DF"/>
                </a:solidFill>
                <a:latin typeface="Calibri" pitchFamily="34" charset="0"/>
                <a:ea typeface="Calibri" pitchFamily="34" charset="-122"/>
                <a:cs typeface="Calibri" pitchFamily="34" charset="-120"/>
              </a:rPr>
              <a:t>A pink/magenta palette ties the dashboard together as a polished, on-brand deliverable.</a:t>
            </a:r>
            <a:endParaRPr lang="en-US" sz="1150" dirty="0"/>
          </a:p>
        </p:txBody>
      </p:sp>
      <p:sp>
        <p:nvSpPr>
          <p:cNvPr id="21" name="Shape 15"/>
          <p:cNvSpPr/>
          <p:nvPr/>
        </p:nvSpPr>
        <p:spPr>
          <a:xfrm>
            <a:off x="8366760" y="1691640"/>
            <a:ext cx="3246120" cy="4480560"/>
          </a:xfrm>
          <a:prstGeom prst="roundRect">
            <a:avLst>
              <a:gd name="adj" fmla="val 1408"/>
            </a:avLst>
          </a:prstGeom>
          <a:solidFill>
            <a:srgbClr val="FFFFFF"/>
          </a:solidFill>
          <a:ln/>
          <a:effectLst>
            <a:outerShdw sx="100000" sy="100000" kx="0" ky="0" algn="bl" rotWithShape="0" blurRad="101600" dist="38100" dir="2700000">
              <a:srgbClr val="000000">
                <a:alpha val="12000"/>
              </a:srgbClr>
            </a:outerShdw>
          </a:effectLst>
        </p:spPr>
      </p:sp>
      <p:pic>
        <p:nvPicPr>
          <p:cNvPr id="22" name="Image 4" descr="dashboard.png">    </p:cNvPr>
          <p:cNvPicPr>
            <a:picLocks noChangeAspect="1"/>
          </p:cNvPicPr>
          <p:nvPr/>
        </p:nvPicPr>
        <p:blipFill>
          <a:blip r:embed="rId5"/>
          <a:srcRect l="0" r="0" t="-19767" b="-19767"/>
          <a:stretch/>
        </p:blipFill>
        <p:spPr>
          <a:xfrm>
            <a:off x="8503920" y="2834640"/>
            <a:ext cx="2971800" cy="2194560"/>
          </a:xfrm>
          <a:prstGeom prst="rect">
            <a:avLst/>
          </a:prstGeom>
        </p:spPr>
      </p:pic>
      <p:sp>
        <p:nvSpPr>
          <p:cNvPr id="23" name="Text 16"/>
          <p:cNvSpPr/>
          <p:nvPr/>
        </p:nvSpPr>
        <p:spPr>
          <a:xfrm>
            <a:off x="8549640" y="1828800"/>
            <a:ext cx="2971800" cy="914400"/>
          </a:xfrm>
          <a:prstGeom prst="rect">
            <a:avLst/>
          </a:prstGeom>
          <a:noFill/>
          <a:ln/>
        </p:spPr>
        <p:txBody>
          <a:bodyPr wrap="square" rtlCol="0" anchor="ctr"/>
          <a:lstStyle/>
          <a:p>
            <a:pPr indent="0" marL="0">
              <a:lnSpc>
                <a:spcPct val="120000"/>
              </a:lnSpc>
              <a:buNone/>
            </a:pPr>
            <a:r>
              <a:rPr lang="en-US" sz="1050" i="1" dirty="0">
                <a:solidFill>
                  <a:srgbClr val="3A2130"/>
                </a:solidFill>
                <a:latin typeface="Calibri" pitchFamily="34" charset="0"/>
                <a:ea typeface="Calibri" pitchFamily="34" charset="-122"/>
                <a:cs typeface="Calibri" pitchFamily="34" charset="-120"/>
              </a:rPr>
              <a:t>“Building this dashboard reinforced how much design decisions matter in making a dashboard genuinely usable.”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indent="0" marL="0">
              <a:buNone/>
            </a:pPr>
            <a:r>
              <a:rPr lang="en-US" sz="3000" b="1" dirty="0">
                <a:solidFill>
                  <a:srgbClr val="3A2130"/>
                </a:solidFill>
                <a:latin typeface="Cambria" pitchFamily="34" charset="0"/>
                <a:ea typeface="Cambria" pitchFamily="34" charset="-122"/>
                <a:cs typeface="Cambria" pitchFamily="34" charset="-120"/>
              </a:rPr>
              <a:t>Use Case Scenarios</a:t>
            </a:r>
            <a:endParaRPr lang="en-US" sz="3000" dirty="0"/>
          </a:p>
        </p:txBody>
      </p:sp>
      <p:sp>
        <p:nvSpPr>
          <p:cNvPr id="3" name="Text 1"/>
          <p:cNvSpPr/>
          <p:nvPr/>
        </p:nvSpPr>
        <p:spPr>
          <a:xfrm>
            <a:off x="640080" y="1005840"/>
            <a:ext cx="8229600" cy="320040"/>
          </a:xfrm>
          <a:prstGeom prst="rect">
            <a:avLst/>
          </a:prstGeom>
          <a:noFill/>
          <a:ln/>
        </p:spPr>
        <p:txBody>
          <a:bodyPr wrap="square" rtlCol="0" anchor="ctr"/>
          <a:lstStyle/>
          <a:p>
            <a:pPr indent="0" marL="0">
              <a:buNone/>
            </a:pPr>
            <a:r>
              <a:rPr lang="en-US" sz="1300" i="1" dirty="0">
                <a:solidFill>
                  <a:srgbClr val="8A6A78"/>
                </a:solidFill>
                <a:latin typeface="Calibri" pitchFamily="34" charset="0"/>
                <a:ea typeface="Calibri" pitchFamily="34" charset="-122"/>
                <a:cs typeface="Calibri" pitchFamily="34" charset="-120"/>
              </a:rPr>
              <a:t>How the dashboard supports real business decisions</a:t>
            </a:r>
            <a:endParaRPr lang="en-US" sz="1300" dirty="0"/>
          </a:p>
        </p:txBody>
      </p:sp>
      <p:sp>
        <p:nvSpPr>
          <p:cNvPr id="4" name="Shape 2"/>
          <p:cNvSpPr/>
          <p:nvPr/>
        </p:nvSpPr>
        <p:spPr>
          <a:xfrm>
            <a:off x="640080" y="1600200"/>
            <a:ext cx="3566160" cy="4206240"/>
          </a:xfrm>
          <a:prstGeom prst="roundRect">
            <a:avLst>
              <a:gd name="adj" fmla="val 1795"/>
            </a:avLst>
          </a:prstGeom>
          <a:solidFill>
            <a:srgbClr val="FFFFFF"/>
          </a:solidFill>
          <a:ln w="12700">
            <a:solidFill>
              <a:srgbClr val="F0D6E4"/>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914400" y="1783080"/>
            <a:ext cx="1371600" cy="640080"/>
          </a:xfrm>
          <a:prstGeom prst="rect">
            <a:avLst/>
          </a:prstGeom>
          <a:noFill/>
          <a:ln/>
        </p:spPr>
        <p:txBody>
          <a:bodyPr wrap="square" rtlCol="0" anchor="ctr"/>
          <a:lstStyle/>
          <a:p>
            <a:pPr indent="0" marL="0">
              <a:buNone/>
            </a:pPr>
            <a:r>
              <a:rPr lang="en-US" sz="3400" b="1" dirty="0">
                <a:solidFill>
                  <a:srgbClr val="F2C8DD"/>
                </a:solidFill>
                <a:latin typeface="Cambria" pitchFamily="34" charset="0"/>
                <a:ea typeface="Cambria" pitchFamily="34" charset="-122"/>
                <a:cs typeface="Cambria" pitchFamily="34" charset="-120"/>
              </a:rPr>
              <a:t>01</a:t>
            </a:r>
            <a:endParaRPr lang="en-US" sz="3400" dirty="0"/>
          </a:p>
        </p:txBody>
      </p:sp>
      <p:sp>
        <p:nvSpPr>
          <p:cNvPr id="6" name="Text 4"/>
          <p:cNvSpPr/>
          <p:nvPr/>
        </p:nvSpPr>
        <p:spPr>
          <a:xfrm>
            <a:off x="914400" y="2514600"/>
            <a:ext cx="3017520" cy="685800"/>
          </a:xfrm>
          <a:prstGeom prst="rect">
            <a:avLst/>
          </a:prstGeom>
          <a:noFill/>
          <a:ln/>
        </p:spPr>
        <p:txBody>
          <a:bodyPr wrap="square" rtlCol="0" anchor="ctr"/>
          <a:lstStyle/>
          <a:p>
            <a:pPr indent="0" marL="0">
              <a:buNone/>
            </a:pPr>
            <a:r>
              <a:rPr lang="en-US" sz="1500" b="1" dirty="0">
                <a:solidFill>
                  <a:srgbClr val="8B1D4C"/>
                </a:solidFill>
                <a:latin typeface="Calibri" pitchFamily="34" charset="0"/>
                <a:ea typeface="Calibri" pitchFamily="34" charset="-122"/>
                <a:cs typeface="Calibri" pitchFamily="34" charset="-120"/>
              </a:rPr>
              <a:t>Monitoring Consumer Preferences</a:t>
            </a:r>
            <a:endParaRPr lang="en-US" sz="1500" dirty="0"/>
          </a:p>
        </p:txBody>
      </p:sp>
      <p:sp>
        <p:nvSpPr>
          <p:cNvPr id="7" name="Text 5"/>
          <p:cNvSpPr/>
          <p:nvPr/>
        </p:nvSpPr>
        <p:spPr>
          <a:xfrm>
            <a:off x="914400" y="3246120"/>
            <a:ext cx="3017520" cy="2377440"/>
          </a:xfrm>
          <a:prstGeom prst="rect">
            <a:avLst/>
          </a:prstGeom>
          <a:noFill/>
          <a:ln/>
        </p:spPr>
        <p:txBody>
          <a:bodyPr wrap="square" rtlCol="0" anchor="ctr"/>
          <a:lstStyle/>
          <a:p>
            <a:pPr indent="0" marL="0">
              <a:lnSpc>
                <a:spcPct val="130000"/>
              </a:lnSpc>
              <a:buNone/>
            </a:pPr>
            <a:r>
              <a:rPr lang="en-US" sz="1150" dirty="0">
                <a:solidFill>
                  <a:srgbClr val="3A2130"/>
                </a:solidFill>
                <a:latin typeface="Calibri" pitchFamily="34" charset="0"/>
                <a:ea typeface="Calibri" pitchFamily="34" charset="-122"/>
                <a:cs typeface="Calibri" pitchFamily="34" charset="-120"/>
              </a:rPr>
              <a:t>Detect shifts in interest toward certain products or ingredients, assess impact, and adapt product offerings, promotions, or personalized recommendations in near real time.</a:t>
            </a:r>
            <a:endParaRPr lang="en-US" sz="1150" dirty="0"/>
          </a:p>
        </p:txBody>
      </p:sp>
      <p:sp>
        <p:nvSpPr>
          <p:cNvPr id="8" name="Shape 6"/>
          <p:cNvSpPr/>
          <p:nvPr/>
        </p:nvSpPr>
        <p:spPr>
          <a:xfrm>
            <a:off x="4434840" y="1600200"/>
            <a:ext cx="3566160" cy="4206240"/>
          </a:xfrm>
          <a:prstGeom prst="roundRect">
            <a:avLst>
              <a:gd name="adj" fmla="val 1795"/>
            </a:avLst>
          </a:prstGeom>
          <a:solidFill>
            <a:srgbClr val="FFFFFF"/>
          </a:solidFill>
          <a:ln w="12700">
            <a:solidFill>
              <a:srgbClr val="F0D6E4"/>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4709160" y="1783080"/>
            <a:ext cx="1371600" cy="640080"/>
          </a:xfrm>
          <a:prstGeom prst="rect">
            <a:avLst/>
          </a:prstGeom>
          <a:noFill/>
          <a:ln/>
        </p:spPr>
        <p:txBody>
          <a:bodyPr wrap="square" rtlCol="0" anchor="ctr"/>
          <a:lstStyle/>
          <a:p>
            <a:pPr indent="0" marL="0">
              <a:buNone/>
            </a:pPr>
            <a:r>
              <a:rPr lang="en-US" sz="3400" b="1" dirty="0">
                <a:solidFill>
                  <a:srgbClr val="F2C8DD"/>
                </a:solidFill>
                <a:latin typeface="Cambria" pitchFamily="34" charset="0"/>
                <a:ea typeface="Cambria" pitchFamily="34" charset="-122"/>
                <a:cs typeface="Cambria" pitchFamily="34" charset="-120"/>
              </a:rPr>
              <a:t>02</a:t>
            </a:r>
            <a:endParaRPr lang="en-US" sz="3400" dirty="0"/>
          </a:p>
        </p:txBody>
      </p:sp>
      <p:sp>
        <p:nvSpPr>
          <p:cNvPr id="10" name="Text 8"/>
          <p:cNvSpPr/>
          <p:nvPr/>
        </p:nvSpPr>
        <p:spPr>
          <a:xfrm>
            <a:off x="4709160" y="2514600"/>
            <a:ext cx="3017520" cy="685800"/>
          </a:xfrm>
          <a:prstGeom prst="rect">
            <a:avLst/>
          </a:prstGeom>
          <a:noFill/>
          <a:ln/>
        </p:spPr>
        <p:txBody>
          <a:bodyPr wrap="square" rtlCol="0" anchor="ctr"/>
          <a:lstStyle/>
          <a:p>
            <a:pPr indent="0" marL="0">
              <a:buNone/>
            </a:pPr>
            <a:r>
              <a:rPr lang="en-US" sz="1500" b="1" dirty="0">
                <a:solidFill>
                  <a:srgbClr val="8B1D4C"/>
                </a:solidFill>
                <a:latin typeface="Calibri" pitchFamily="34" charset="0"/>
                <a:ea typeface="Calibri" pitchFamily="34" charset="-122"/>
                <a:cs typeface="Calibri" pitchFamily="34" charset="-120"/>
              </a:rPr>
              <a:t>Addressing Product Concerns</a:t>
            </a:r>
            <a:endParaRPr lang="en-US" sz="1500" dirty="0"/>
          </a:p>
        </p:txBody>
      </p:sp>
      <p:sp>
        <p:nvSpPr>
          <p:cNvPr id="11" name="Text 9"/>
          <p:cNvSpPr/>
          <p:nvPr/>
        </p:nvSpPr>
        <p:spPr>
          <a:xfrm>
            <a:off x="4709160" y="3246120"/>
            <a:ext cx="3017520" cy="2377440"/>
          </a:xfrm>
          <a:prstGeom prst="rect">
            <a:avLst/>
          </a:prstGeom>
          <a:noFill/>
          <a:ln/>
        </p:spPr>
        <p:txBody>
          <a:bodyPr wrap="square" rtlCol="0" anchor="ctr"/>
          <a:lstStyle/>
          <a:p>
            <a:pPr indent="0" marL="0">
              <a:lnSpc>
                <a:spcPct val="130000"/>
              </a:lnSpc>
              <a:buNone/>
            </a:pPr>
            <a:r>
              <a:rPr lang="en-US" sz="1150" dirty="0">
                <a:solidFill>
                  <a:srgbClr val="3A2130"/>
                </a:solidFill>
                <a:latin typeface="Calibri" pitchFamily="34" charset="0"/>
                <a:ea typeface="Calibri" pitchFamily="34" charset="-122"/>
                <a:cs typeface="Calibri" pitchFamily="34" charset="-120"/>
              </a:rPr>
              <a:t>Quickly investigate the prevalence and demographic impact of product-related issues, supporting quality control, recalls, and transparent consumer communication.</a:t>
            </a:r>
            <a:endParaRPr lang="en-US" sz="1150" dirty="0"/>
          </a:p>
        </p:txBody>
      </p:sp>
      <p:sp>
        <p:nvSpPr>
          <p:cNvPr id="12" name="Shape 10"/>
          <p:cNvSpPr/>
          <p:nvPr/>
        </p:nvSpPr>
        <p:spPr>
          <a:xfrm>
            <a:off x="8229600" y="1600200"/>
            <a:ext cx="3566160" cy="4206240"/>
          </a:xfrm>
          <a:prstGeom prst="roundRect">
            <a:avLst>
              <a:gd name="adj" fmla="val 1795"/>
            </a:avLst>
          </a:prstGeom>
          <a:solidFill>
            <a:srgbClr val="FFFFFF"/>
          </a:solidFill>
          <a:ln w="12700">
            <a:solidFill>
              <a:srgbClr val="F0D6E4"/>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8503920" y="1783080"/>
            <a:ext cx="1371600" cy="640080"/>
          </a:xfrm>
          <a:prstGeom prst="rect">
            <a:avLst/>
          </a:prstGeom>
          <a:noFill/>
          <a:ln/>
        </p:spPr>
        <p:txBody>
          <a:bodyPr wrap="square" rtlCol="0" anchor="ctr"/>
          <a:lstStyle/>
          <a:p>
            <a:pPr indent="0" marL="0">
              <a:buNone/>
            </a:pPr>
            <a:r>
              <a:rPr lang="en-US" sz="3400" b="1" dirty="0">
                <a:solidFill>
                  <a:srgbClr val="F2C8DD"/>
                </a:solidFill>
                <a:latin typeface="Cambria" pitchFamily="34" charset="0"/>
                <a:ea typeface="Cambria" pitchFamily="34" charset="-122"/>
                <a:cs typeface="Cambria" pitchFamily="34" charset="-120"/>
              </a:rPr>
              <a:t>03</a:t>
            </a:r>
            <a:endParaRPr lang="en-US" sz="3400" dirty="0"/>
          </a:p>
        </p:txBody>
      </p:sp>
      <p:sp>
        <p:nvSpPr>
          <p:cNvPr id="14" name="Text 12"/>
          <p:cNvSpPr/>
          <p:nvPr/>
        </p:nvSpPr>
        <p:spPr>
          <a:xfrm>
            <a:off x="8503920" y="2514600"/>
            <a:ext cx="3017520" cy="685800"/>
          </a:xfrm>
          <a:prstGeom prst="rect">
            <a:avLst/>
          </a:prstGeom>
          <a:noFill/>
          <a:ln/>
        </p:spPr>
        <p:txBody>
          <a:bodyPr wrap="square" rtlCol="0" anchor="ctr"/>
          <a:lstStyle/>
          <a:p>
            <a:pPr indent="0" marL="0">
              <a:buNone/>
            </a:pPr>
            <a:r>
              <a:rPr lang="en-US" sz="1500" b="1" dirty="0">
                <a:solidFill>
                  <a:srgbClr val="8B1D4C"/>
                </a:solidFill>
                <a:latin typeface="Calibri" pitchFamily="34" charset="0"/>
                <a:ea typeface="Calibri" pitchFamily="34" charset="-122"/>
                <a:cs typeface="Calibri" pitchFamily="34" charset="-120"/>
              </a:rPr>
              <a:t>Predictive Analysis &amp; Product Innovation</a:t>
            </a:r>
            <a:endParaRPr lang="en-US" sz="1500" dirty="0"/>
          </a:p>
        </p:txBody>
      </p:sp>
      <p:sp>
        <p:nvSpPr>
          <p:cNvPr id="15" name="Text 13"/>
          <p:cNvSpPr/>
          <p:nvPr/>
        </p:nvSpPr>
        <p:spPr>
          <a:xfrm>
            <a:off x="8503920" y="3246120"/>
            <a:ext cx="3017520" cy="2377440"/>
          </a:xfrm>
          <a:prstGeom prst="rect">
            <a:avLst/>
          </a:prstGeom>
          <a:noFill/>
          <a:ln/>
        </p:spPr>
        <p:txBody>
          <a:bodyPr wrap="square" rtlCol="0" anchor="ctr"/>
          <a:lstStyle/>
          <a:p>
            <a:pPr indent="0" marL="0">
              <a:lnSpc>
                <a:spcPct val="130000"/>
              </a:lnSpc>
              <a:buNone/>
            </a:pPr>
            <a:r>
              <a:rPr lang="en-US" sz="1150" dirty="0">
                <a:solidFill>
                  <a:srgbClr val="3A2130"/>
                </a:solidFill>
                <a:latin typeface="Calibri" pitchFamily="34" charset="0"/>
                <a:ea typeface="Calibri" pitchFamily="34" charset="-122"/>
                <a:cs typeface="Calibri" pitchFamily="34" charset="-120"/>
              </a:rPr>
              <a:t>Use historical data and predictive indicators to anticipate emerging trends, guide new product development, and refine formulations and marketing strategy.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315200" cy="548640"/>
          </a:xfrm>
          <a:prstGeom prst="rect">
            <a:avLst/>
          </a:prstGeom>
          <a:noFill/>
          <a:ln/>
        </p:spPr>
        <p:txBody>
          <a:bodyPr wrap="square" rtlCol="0" anchor="ctr"/>
          <a:lstStyle/>
          <a:p>
            <a:pPr indent="0" marL="0">
              <a:buNone/>
            </a:pPr>
            <a:r>
              <a:rPr lang="en-US" sz="3000" b="1" dirty="0">
                <a:solidFill>
                  <a:srgbClr val="3A2130"/>
                </a:solidFill>
                <a:latin typeface="Cambria" pitchFamily="34" charset="0"/>
                <a:ea typeface="Cambria" pitchFamily="34" charset="-122"/>
                <a:cs typeface="Cambria" pitchFamily="34" charset="-120"/>
              </a:rPr>
              <a:t>Dataset &amp; Tools</a:t>
            </a:r>
            <a:endParaRPr lang="en-US" sz="3000" dirty="0"/>
          </a:p>
        </p:txBody>
      </p:sp>
      <p:sp>
        <p:nvSpPr>
          <p:cNvPr id="3" name="Text 1"/>
          <p:cNvSpPr/>
          <p:nvPr/>
        </p:nvSpPr>
        <p:spPr>
          <a:xfrm>
            <a:off x="640080" y="1051560"/>
            <a:ext cx="5120640" cy="274320"/>
          </a:xfrm>
          <a:prstGeom prst="rect">
            <a:avLst/>
          </a:prstGeom>
          <a:noFill/>
          <a:ln/>
        </p:spPr>
        <p:txBody>
          <a:bodyPr wrap="square" rtlCol="0" anchor="ctr"/>
          <a:lstStyle/>
          <a:p>
            <a:pPr indent="0" marL="0">
              <a:buNone/>
            </a:pPr>
            <a:r>
              <a:rPr lang="en-US" sz="1150" b="1" spc="100" kern="0" dirty="0">
                <a:solidFill>
                  <a:srgbClr val="8B1D4C"/>
                </a:solidFill>
                <a:latin typeface="Calibri" pitchFamily="34" charset="0"/>
                <a:ea typeface="Calibri" pitchFamily="34" charset="-122"/>
                <a:cs typeface="Calibri" pitchFamily="34" charset="-120"/>
              </a:rPr>
              <a:t>DATASET ATTRIBUTES</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5120640" cy="914400"/>
        </p:xfrm>
        <a:graphic>
          <a:graphicData uri="http://schemas.openxmlformats.org/drawingml/2006/table">
            <a:tbl>
              <a:tblPr/>
              <a:tblGrid>
                <a:gridCol w="1371600"/>
                <a:gridCol w="3749040"/>
              </a:tblGrid>
              <a:tr h="438912">
                <a:tc>
                  <a:txBody>
                    <a:bodyPr/>
                    <a:lstStyle/>
                    <a:p>
                      <a:pPr indent="0" marL="0">
                        <a:buNone/>
                      </a:pPr>
                      <a:r>
                        <a:rPr lang="en-US" sz="1100" b="1" dirty="0">
                          <a:solidFill>
                            <a:srgbClr val="FFFFFF"/>
                          </a:solidFill>
                        </a:rPr>
                        <a:t>Attribute</a:t>
                      </a:r>
                      <a:endParaRPr lang="en-US" sz="1100" dirty="0"/>
                    </a:p>
                  </a:txBody>
                  <a:tcPr marL="91440" marR="91440" marT="45720" marB="45720" anchor="ctr">
                    <a:lnL w="6350" cap="flat" cmpd="sng" algn="ctr">
                      <a:solidFill>
                        <a:srgbClr val="F0D6E4"/>
                      </a:solidFill>
                      <a:prstDash val="solid"/>
                      <a:round/>
                      <a:headEnd type="none" w="med" len="med"/>
                      <a:tailEnd type="none" w="med" len="med"/>
                    </a:lnL>
                    <a:lnR w="6350" cap="flat" cmpd="sng" algn="ctr">
                      <a:solidFill>
                        <a:srgbClr val="F0D6E4"/>
                      </a:solidFill>
                      <a:prstDash val="solid"/>
                      <a:round/>
                      <a:headEnd type="none" w="med" len="med"/>
                      <a:tailEnd type="none" w="med" len="med"/>
                    </a:lnR>
                    <a:lnT w="6350" cap="flat" cmpd="sng" algn="ctr">
                      <a:solidFill>
                        <a:srgbClr val="F0D6E4"/>
                      </a:solidFill>
                      <a:prstDash val="solid"/>
                      <a:round/>
                      <a:headEnd type="none" w="med" len="med"/>
                      <a:tailEnd type="none" w="med" len="med"/>
                    </a:lnT>
                    <a:lnB w="6350" cap="flat" cmpd="sng" algn="ctr">
                      <a:solidFill>
                        <a:srgbClr val="F0D6E4"/>
                      </a:solidFill>
                      <a:prstDash val="solid"/>
                      <a:round/>
                      <a:headEnd type="none" w="med" len="med"/>
                      <a:tailEnd type="none" w="med" len="med"/>
                    </a:lnB>
                    <a:solidFill>
                      <a:srgbClr val="8B1D4C"/>
                    </a:solidFill>
                  </a:tcPr>
                </a:tc>
                <a:tc>
                  <a:txBody>
                    <a:bodyPr/>
                    <a:lstStyle/>
                    <a:p>
                      <a:pPr indent="0" marL="0">
                        <a:buNone/>
                      </a:pPr>
                      <a:r>
                        <a:rPr lang="en-US" sz="1100" b="1" dirty="0">
                          <a:solidFill>
                            <a:srgbClr val="FFFFFF"/>
                          </a:solidFill>
                        </a:rPr>
                        <a:t>Description</a:t>
                      </a:r>
                      <a:endParaRPr lang="en-US" sz="1100" dirty="0"/>
                    </a:p>
                  </a:txBody>
                  <a:tcPr marL="91440" marR="91440" marT="45720" marB="45720" anchor="ctr">
                    <a:lnL w="6350" cap="flat" cmpd="sng" algn="ctr">
                      <a:solidFill>
                        <a:srgbClr val="F0D6E4"/>
                      </a:solidFill>
                      <a:prstDash val="solid"/>
                      <a:round/>
                      <a:headEnd type="none" w="med" len="med"/>
                      <a:tailEnd type="none" w="med" len="med"/>
                    </a:lnL>
                    <a:lnR w="6350" cap="flat" cmpd="sng" algn="ctr">
                      <a:solidFill>
                        <a:srgbClr val="F0D6E4"/>
                      </a:solidFill>
                      <a:prstDash val="solid"/>
                      <a:round/>
                      <a:headEnd type="none" w="med" len="med"/>
                      <a:tailEnd type="none" w="med" len="med"/>
                    </a:lnR>
                    <a:lnT w="6350" cap="flat" cmpd="sng" algn="ctr">
                      <a:solidFill>
                        <a:srgbClr val="F0D6E4"/>
                      </a:solidFill>
                      <a:prstDash val="solid"/>
                      <a:round/>
                      <a:headEnd type="none" w="med" len="med"/>
                      <a:tailEnd type="none" w="med" len="med"/>
                    </a:lnT>
                    <a:lnB w="6350" cap="flat" cmpd="sng" algn="ctr">
                      <a:solidFill>
                        <a:srgbClr val="F0D6E4"/>
                      </a:solidFill>
                      <a:prstDash val="solid"/>
                      <a:round/>
                      <a:headEnd type="none" w="med" len="med"/>
                      <a:tailEnd type="none" w="med" len="med"/>
                    </a:lnB>
                    <a:solidFill>
                      <a:srgbClr val="8B1D4C"/>
                    </a:solidFill>
                  </a:tcPr>
                </a:tc>
              </a:tr>
              <a:tr h="438912">
                <a:tc>
                  <a:txBody>
                    <a:bodyPr/>
                    <a:lstStyle/>
                    <a:p>
                      <a:pPr indent="0" marL="0">
                        <a:buNone/>
                      </a:pPr>
                      <a:r>
                        <a:rPr lang="en-US" sz="1050" b="1" dirty="0">
                          <a:solidFill>
                            <a:srgbClr val="3A2130"/>
                          </a:solidFill>
                        </a:rPr>
                        <a:t>Brand</a:t>
                      </a:r>
                      <a:endParaRPr lang="en-US" sz="1050" dirty="0"/>
                    </a:p>
                  </a:txBody>
                  <a:tcPr marL="91440" marR="91440" marT="45720" marB="45720" anchor="ctr">
                    <a:lnL w="6350" cap="flat" cmpd="sng" algn="ctr">
                      <a:solidFill>
                        <a:srgbClr val="F0D6E4"/>
                      </a:solidFill>
                      <a:prstDash val="solid"/>
                      <a:round/>
                      <a:headEnd type="none" w="med" len="med"/>
                      <a:tailEnd type="none" w="med" len="med"/>
                    </a:lnL>
                    <a:lnR w="6350" cap="flat" cmpd="sng" algn="ctr">
                      <a:solidFill>
                        <a:srgbClr val="F0D6E4"/>
                      </a:solidFill>
                      <a:prstDash val="solid"/>
                      <a:round/>
                      <a:headEnd type="none" w="med" len="med"/>
                      <a:tailEnd type="none" w="med" len="med"/>
                    </a:lnR>
                    <a:lnT w="6350" cap="flat" cmpd="sng" algn="ctr">
                      <a:solidFill>
                        <a:srgbClr val="F0D6E4"/>
                      </a:solidFill>
                      <a:prstDash val="solid"/>
                      <a:round/>
                      <a:headEnd type="none" w="med" len="med"/>
                      <a:tailEnd type="none" w="med" len="med"/>
                    </a:lnT>
                    <a:lnB w="6350" cap="flat" cmpd="sng" algn="ctr">
                      <a:solidFill>
                        <a:srgbClr val="F0D6E4"/>
                      </a:solidFill>
                      <a:prstDash val="solid"/>
                      <a:round/>
                      <a:headEnd type="none" w="med" len="med"/>
                      <a:tailEnd type="none" w="med" len="med"/>
                    </a:lnB>
                    <a:solidFill>
                      <a:srgbClr val="FFFFFF"/>
                    </a:solidFill>
                  </a:tcPr>
                </a:tc>
                <a:tc>
                  <a:txBody>
                    <a:bodyPr/>
                    <a:lstStyle/>
                    <a:p>
                      <a:pPr indent="0" marL="0">
                        <a:buNone/>
                      </a:pPr>
                      <a:r>
                        <a:rPr lang="en-US" sz="1000" dirty="0">
                          <a:solidFill>
                            <a:srgbClr val="8A6A78"/>
                          </a:solidFill>
                        </a:rPr>
                        <a:t>Cosmetics brand name</a:t>
                      </a:r>
                      <a:endParaRPr lang="en-US" sz="1000" dirty="0"/>
                    </a:p>
                  </a:txBody>
                  <a:tcPr marL="91440" marR="91440" marT="45720" marB="45720" anchor="ctr">
                    <a:lnL w="6350" cap="flat" cmpd="sng" algn="ctr">
                      <a:solidFill>
                        <a:srgbClr val="F0D6E4"/>
                      </a:solidFill>
                      <a:prstDash val="solid"/>
                      <a:round/>
                      <a:headEnd type="none" w="med" len="med"/>
                      <a:tailEnd type="none" w="med" len="med"/>
                    </a:lnL>
                    <a:lnR w="6350" cap="flat" cmpd="sng" algn="ctr">
                      <a:solidFill>
                        <a:srgbClr val="F0D6E4"/>
                      </a:solidFill>
                      <a:prstDash val="solid"/>
                      <a:round/>
                      <a:headEnd type="none" w="med" len="med"/>
                      <a:tailEnd type="none" w="med" len="med"/>
                    </a:lnR>
                    <a:lnT w="6350" cap="flat" cmpd="sng" algn="ctr">
                      <a:solidFill>
                        <a:srgbClr val="F0D6E4"/>
                      </a:solidFill>
                      <a:prstDash val="solid"/>
                      <a:round/>
                      <a:headEnd type="none" w="med" len="med"/>
                      <a:tailEnd type="none" w="med" len="med"/>
                    </a:lnT>
                    <a:lnB w="6350" cap="flat" cmpd="sng" algn="ctr">
                      <a:solidFill>
                        <a:srgbClr val="F0D6E4"/>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3A2130"/>
                          </a:solidFill>
                        </a:rPr>
                        <a:t>Category</a:t>
                      </a:r>
                      <a:endParaRPr lang="en-US" sz="1050" dirty="0"/>
                    </a:p>
                  </a:txBody>
                  <a:tcPr marL="91440" marR="91440" marT="45720" marB="45720" anchor="ctr">
                    <a:lnL w="6350" cap="flat" cmpd="sng" algn="ctr">
                      <a:solidFill>
                        <a:srgbClr val="F0D6E4"/>
                      </a:solidFill>
                      <a:prstDash val="solid"/>
                      <a:round/>
                      <a:headEnd type="none" w="med" len="med"/>
                      <a:tailEnd type="none" w="med" len="med"/>
                    </a:lnL>
                    <a:lnR w="6350" cap="flat" cmpd="sng" algn="ctr">
                      <a:solidFill>
                        <a:srgbClr val="F0D6E4"/>
                      </a:solidFill>
                      <a:prstDash val="solid"/>
                      <a:round/>
                      <a:headEnd type="none" w="med" len="med"/>
                      <a:tailEnd type="none" w="med" len="med"/>
                    </a:lnR>
                    <a:lnT w="6350" cap="flat" cmpd="sng" algn="ctr">
                      <a:solidFill>
                        <a:srgbClr val="F0D6E4"/>
                      </a:solidFill>
                      <a:prstDash val="solid"/>
                      <a:round/>
                      <a:headEnd type="none" w="med" len="med"/>
                      <a:tailEnd type="none" w="med" len="med"/>
                    </a:lnT>
                    <a:lnB w="6350" cap="flat" cmpd="sng" algn="ctr">
                      <a:solidFill>
                        <a:srgbClr val="F0D6E4"/>
                      </a:solidFill>
                      <a:prstDash val="solid"/>
                      <a:round/>
                      <a:headEnd type="none" w="med" len="med"/>
                      <a:tailEnd type="none" w="med" len="med"/>
                    </a:lnB>
                    <a:solidFill>
                      <a:srgbClr val="FFFFFF"/>
                    </a:solidFill>
                  </a:tcPr>
                </a:tc>
                <a:tc>
                  <a:txBody>
                    <a:bodyPr/>
                    <a:lstStyle/>
                    <a:p>
                      <a:pPr indent="0" marL="0">
                        <a:buNone/>
                      </a:pPr>
                      <a:r>
                        <a:rPr lang="en-US" sz="1000" dirty="0">
                          <a:solidFill>
                            <a:srgbClr val="8A6A78"/>
                          </a:solidFill>
                        </a:rPr>
                        <a:t>Moisturizer, Cleanser, Face Mask, Treatment, Eye Cream, Sun Protect</a:t>
                      </a:r>
                      <a:endParaRPr lang="en-US" sz="1000" dirty="0"/>
                    </a:p>
                  </a:txBody>
                  <a:tcPr marL="91440" marR="91440" marT="45720" marB="45720" anchor="ctr">
                    <a:lnL w="6350" cap="flat" cmpd="sng" algn="ctr">
                      <a:solidFill>
                        <a:srgbClr val="F0D6E4"/>
                      </a:solidFill>
                      <a:prstDash val="solid"/>
                      <a:round/>
                      <a:headEnd type="none" w="med" len="med"/>
                      <a:tailEnd type="none" w="med" len="med"/>
                    </a:lnL>
                    <a:lnR w="6350" cap="flat" cmpd="sng" algn="ctr">
                      <a:solidFill>
                        <a:srgbClr val="F0D6E4"/>
                      </a:solidFill>
                      <a:prstDash val="solid"/>
                      <a:round/>
                      <a:headEnd type="none" w="med" len="med"/>
                      <a:tailEnd type="none" w="med" len="med"/>
                    </a:lnR>
                    <a:lnT w="6350" cap="flat" cmpd="sng" algn="ctr">
                      <a:solidFill>
                        <a:srgbClr val="F0D6E4"/>
                      </a:solidFill>
                      <a:prstDash val="solid"/>
                      <a:round/>
                      <a:headEnd type="none" w="med" len="med"/>
                      <a:tailEnd type="none" w="med" len="med"/>
                    </a:lnT>
                    <a:lnB w="6350" cap="flat" cmpd="sng" algn="ctr">
                      <a:solidFill>
                        <a:srgbClr val="F0D6E4"/>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3A2130"/>
                          </a:solidFill>
                        </a:rPr>
                        <a:t>Price</a:t>
                      </a:r>
                      <a:endParaRPr lang="en-US" sz="1050" dirty="0"/>
                    </a:p>
                  </a:txBody>
                  <a:tcPr marL="91440" marR="91440" marT="45720" marB="45720" anchor="ctr">
                    <a:lnL w="6350" cap="flat" cmpd="sng" algn="ctr">
                      <a:solidFill>
                        <a:srgbClr val="F0D6E4"/>
                      </a:solidFill>
                      <a:prstDash val="solid"/>
                      <a:round/>
                      <a:headEnd type="none" w="med" len="med"/>
                      <a:tailEnd type="none" w="med" len="med"/>
                    </a:lnL>
                    <a:lnR w="6350" cap="flat" cmpd="sng" algn="ctr">
                      <a:solidFill>
                        <a:srgbClr val="F0D6E4"/>
                      </a:solidFill>
                      <a:prstDash val="solid"/>
                      <a:round/>
                      <a:headEnd type="none" w="med" len="med"/>
                      <a:tailEnd type="none" w="med" len="med"/>
                    </a:lnR>
                    <a:lnT w="6350" cap="flat" cmpd="sng" algn="ctr">
                      <a:solidFill>
                        <a:srgbClr val="F0D6E4"/>
                      </a:solidFill>
                      <a:prstDash val="solid"/>
                      <a:round/>
                      <a:headEnd type="none" w="med" len="med"/>
                      <a:tailEnd type="none" w="med" len="med"/>
                    </a:lnT>
                    <a:lnB w="6350" cap="flat" cmpd="sng" algn="ctr">
                      <a:solidFill>
                        <a:srgbClr val="F0D6E4"/>
                      </a:solidFill>
                      <a:prstDash val="solid"/>
                      <a:round/>
                      <a:headEnd type="none" w="med" len="med"/>
                      <a:tailEnd type="none" w="med" len="med"/>
                    </a:lnB>
                    <a:solidFill>
                      <a:srgbClr val="FFFFFF"/>
                    </a:solidFill>
                  </a:tcPr>
                </a:tc>
                <a:tc>
                  <a:txBody>
                    <a:bodyPr/>
                    <a:lstStyle/>
                    <a:p>
                      <a:pPr indent="0" marL="0">
                        <a:buNone/>
                      </a:pPr>
                      <a:r>
                        <a:rPr lang="en-US" sz="1000" dirty="0">
                          <a:solidFill>
                            <a:srgbClr val="8A6A78"/>
                          </a:solidFill>
                        </a:rPr>
                        <a:t>Product price</a:t>
                      </a:r>
                      <a:endParaRPr lang="en-US" sz="1000" dirty="0"/>
                    </a:p>
                  </a:txBody>
                  <a:tcPr marL="91440" marR="91440" marT="45720" marB="45720" anchor="ctr">
                    <a:lnL w="6350" cap="flat" cmpd="sng" algn="ctr">
                      <a:solidFill>
                        <a:srgbClr val="F0D6E4"/>
                      </a:solidFill>
                      <a:prstDash val="solid"/>
                      <a:round/>
                      <a:headEnd type="none" w="med" len="med"/>
                      <a:tailEnd type="none" w="med" len="med"/>
                    </a:lnL>
                    <a:lnR w="6350" cap="flat" cmpd="sng" algn="ctr">
                      <a:solidFill>
                        <a:srgbClr val="F0D6E4"/>
                      </a:solidFill>
                      <a:prstDash val="solid"/>
                      <a:round/>
                      <a:headEnd type="none" w="med" len="med"/>
                      <a:tailEnd type="none" w="med" len="med"/>
                    </a:lnR>
                    <a:lnT w="6350" cap="flat" cmpd="sng" algn="ctr">
                      <a:solidFill>
                        <a:srgbClr val="F0D6E4"/>
                      </a:solidFill>
                      <a:prstDash val="solid"/>
                      <a:round/>
                      <a:headEnd type="none" w="med" len="med"/>
                      <a:tailEnd type="none" w="med" len="med"/>
                    </a:lnT>
                    <a:lnB w="6350" cap="flat" cmpd="sng" algn="ctr">
                      <a:solidFill>
                        <a:srgbClr val="F0D6E4"/>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3A2130"/>
                          </a:solidFill>
                        </a:rPr>
                        <a:t>Rank</a:t>
                      </a:r>
                      <a:endParaRPr lang="en-US" sz="1050" dirty="0"/>
                    </a:p>
                  </a:txBody>
                  <a:tcPr marL="91440" marR="91440" marT="45720" marB="45720" anchor="ctr">
                    <a:lnL w="6350" cap="flat" cmpd="sng" algn="ctr">
                      <a:solidFill>
                        <a:srgbClr val="F0D6E4"/>
                      </a:solidFill>
                      <a:prstDash val="solid"/>
                      <a:round/>
                      <a:headEnd type="none" w="med" len="med"/>
                      <a:tailEnd type="none" w="med" len="med"/>
                    </a:lnL>
                    <a:lnR w="6350" cap="flat" cmpd="sng" algn="ctr">
                      <a:solidFill>
                        <a:srgbClr val="F0D6E4"/>
                      </a:solidFill>
                      <a:prstDash val="solid"/>
                      <a:round/>
                      <a:headEnd type="none" w="med" len="med"/>
                      <a:tailEnd type="none" w="med" len="med"/>
                    </a:lnR>
                    <a:lnT w="6350" cap="flat" cmpd="sng" algn="ctr">
                      <a:solidFill>
                        <a:srgbClr val="F0D6E4"/>
                      </a:solidFill>
                      <a:prstDash val="solid"/>
                      <a:round/>
                      <a:headEnd type="none" w="med" len="med"/>
                      <a:tailEnd type="none" w="med" len="med"/>
                    </a:lnT>
                    <a:lnB w="6350" cap="flat" cmpd="sng" algn="ctr">
                      <a:solidFill>
                        <a:srgbClr val="F0D6E4"/>
                      </a:solidFill>
                      <a:prstDash val="solid"/>
                      <a:round/>
                      <a:headEnd type="none" w="med" len="med"/>
                      <a:tailEnd type="none" w="med" len="med"/>
                    </a:lnB>
                    <a:solidFill>
                      <a:srgbClr val="FFFFFF"/>
                    </a:solidFill>
                  </a:tcPr>
                </a:tc>
                <a:tc>
                  <a:txBody>
                    <a:bodyPr/>
                    <a:lstStyle/>
                    <a:p>
                      <a:pPr indent="0" marL="0">
                        <a:buNone/>
                      </a:pPr>
                      <a:r>
                        <a:rPr lang="en-US" sz="1000" dirty="0">
                          <a:solidFill>
                            <a:srgbClr val="8A6A78"/>
                          </a:solidFill>
                        </a:rPr>
                        <a:t>Product ranking</a:t>
                      </a:r>
                      <a:endParaRPr lang="en-US" sz="1000" dirty="0"/>
                    </a:p>
                  </a:txBody>
                  <a:tcPr marL="91440" marR="91440" marT="45720" marB="45720" anchor="ctr">
                    <a:lnL w="6350" cap="flat" cmpd="sng" algn="ctr">
                      <a:solidFill>
                        <a:srgbClr val="F0D6E4"/>
                      </a:solidFill>
                      <a:prstDash val="solid"/>
                      <a:round/>
                      <a:headEnd type="none" w="med" len="med"/>
                      <a:tailEnd type="none" w="med" len="med"/>
                    </a:lnL>
                    <a:lnR w="6350" cap="flat" cmpd="sng" algn="ctr">
                      <a:solidFill>
                        <a:srgbClr val="F0D6E4"/>
                      </a:solidFill>
                      <a:prstDash val="solid"/>
                      <a:round/>
                      <a:headEnd type="none" w="med" len="med"/>
                      <a:tailEnd type="none" w="med" len="med"/>
                    </a:lnR>
                    <a:lnT w="6350" cap="flat" cmpd="sng" algn="ctr">
                      <a:solidFill>
                        <a:srgbClr val="F0D6E4"/>
                      </a:solidFill>
                      <a:prstDash val="solid"/>
                      <a:round/>
                      <a:headEnd type="none" w="med" len="med"/>
                      <a:tailEnd type="none" w="med" len="med"/>
                    </a:lnT>
                    <a:lnB w="6350" cap="flat" cmpd="sng" algn="ctr">
                      <a:solidFill>
                        <a:srgbClr val="F0D6E4"/>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3A2130"/>
                          </a:solidFill>
                        </a:rPr>
                        <a:t>Skin Type</a:t>
                      </a:r>
                      <a:endParaRPr lang="en-US" sz="1050" dirty="0"/>
                    </a:p>
                  </a:txBody>
                  <a:tcPr marL="91440" marR="91440" marT="45720" marB="45720" anchor="ctr">
                    <a:lnL w="6350" cap="flat" cmpd="sng" algn="ctr">
                      <a:solidFill>
                        <a:srgbClr val="F0D6E4"/>
                      </a:solidFill>
                      <a:prstDash val="solid"/>
                      <a:round/>
                      <a:headEnd type="none" w="med" len="med"/>
                      <a:tailEnd type="none" w="med" len="med"/>
                    </a:lnL>
                    <a:lnR w="6350" cap="flat" cmpd="sng" algn="ctr">
                      <a:solidFill>
                        <a:srgbClr val="F0D6E4"/>
                      </a:solidFill>
                      <a:prstDash val="solid"/>
                      <a:round/>
                      <a:headEnd type="none" w="med" len="med"/>
                      <a:tailEnd type="none" w="med" len="med"/>
                    </a:lnR>
                    <a:lnT w="6350" cap="flat" cmpd="sng" algn="ctr">
                      <a:solidFill>
                        <a:srgbClr val="F0D6E4"/>
                      </a:solidFill>
                      <a:prstDash val="solid"/>
                      <a:round/>
                      <a:headEnd type="none" w="med" len="med"/>
                      <a:tailEnd type="none" w="med" len="med"/>
                    </a:lnT>
                    <a:lnB w="6350" cap="flat" cmpd="sng" algn="ctr">
                      <a:solidFill>
                        <a:srgbClr val="F0D6E4"/>
                      </a:solidFill>
                      <a:prstDash val="solid"/>
                      <a:round/>
                      <a:headEnd type="none" w="med" len="med"/>
                      <a:tailEnd type="none" w="med" len="med"/>
                    </a:lnB>
                    <a:solidFill>
                      <a:srgbClr val="FFFFFF"/>
                    </a:solidFill>
                  </a:tcPr>
                </a:tc>
                <a:tc>
                  <a:txBody>
                    <a:bodyPr/>
                    <a:lstStyle/>
                    <a:p>
                      <a:pPr indent="0" marL="0">
                        <a:buNone/>
                      </a:pPr>
                      <a:r>
                        <a:rPr lang="en-US" sz="1000" dirty="0">
                          <a:solidFill>
                            <a:srgbClr val="8A6A78"/>
                          </a:solidFill>
                        </a:rPr>
                        <a:t>Dry, Oily, Combination, Normal, Sensitive</a:t>
                      </a:r>
                      <a:endParaRPr lang="en-US" sz="1000" dirty="0"/>
                    </a:p>
                  </a:txBody>
                  <a:tcPr marL="91440" marR="91440" marT="45720" marB="45720" anchor="ctr">
                    <a:lnL w="6350" cap="flat" cmpd="sng" algn="ctr">
                      <a:solidFill>
                        <a:srgbClr val="F0D6E4"/>
                      </a:solidFill>
                      <a:prstDash val="solid"/>
                      <a:round/>
                      <a:headEnd type="none" w="med" len="med"/>
                      <a:tailEnd type="none" w="med" len="med"/>
                    </a:lnL>
                    <a:lnR w="6350" cap="flat" cmpd="sng" algn="ctr">
                      <a:solidFill>
                        <a:srgbClr val="F0D6E4"/>
                      </a:solidFill>
                      <a:prstDash val="solid"/>
                      <a:round/>
                      <a:headEnd type="none" w="med" len="med"/>
                      <a:tailEnd type="none" w="med" len="med"/>
                    </a:lnR>
                    <a:lnT w="6350" cap="flat" cmpd="sng" algn="ctr">
                      <a:solidFill>
                        <a:srgbClr val="F0D6E4"/>
                      </a:solidFill>
                      <a:prstDash val="solid"/>
                      <a:round/>
                      <a:headEnd type="none" w="med" len="med"/>
                      <a:tailEnd type="none" w="med" len="med"/>
                    </a:lnT>
                    <a:lnB w="6350" cap="flat" cmpd="sng" algn="ctr">
                      <a:solidFill>
                        <a:srgbClr val="F0D6E4"/>
                      </a:solidFill>
                      <a:prstDash val="solid"/>
                      <a:round/>
                      <a:headEnd type="none" w="med" len="med"/>
                      <a:tailEnd type="none" w="med" len="med"/>
                    </a:lnB>
                    <a:solidFill>
                      <a:srgbClr val="FFFFFF"/>
                    </a:solidFill>
                  </a:tcPr>
                </a:tc>
              </a:tr>
            </a:tbl>
          </a:graphicData>
        </a:graphic>
      </p:graphicFrame>
      <p:sp>
        <p:nvSpPr>
          <p:cNvPr id="5" name="Shape 2"/>
          <p:cNvSpPr/>
          <p:nvPr/>
        </p:nvSpPr>
        <p:spPr>
          <a:xfrm>
            <a:off x="6080760" y="1051560"/>
            <a:ext cx="5486400" cy="1600200"/>
          </a:xfrm>
          <a:prstGeom prst="roundRect">
            <a:avLst>
              <a:gd name="adj" fmla="val 4000"/>
            </a:avLst>
          </a:prstGeom>
          <a:solidFill>
            <a:srgbClr val="FDEBF3"/>
          </a:solidFill>
          <a:ln/>
          <a:effectLst>
            <a:outerShdw sx="100000" sy="100000" kx="0" ky="0" algn="bl" rotWithShape="0" blurRad="101600" dist="38100" dir="2700000">
              <a:srgbClr val="000000">
                <a:alpha val="12000"/>
              </a:srgbClr>
            </a:outerShdw>
          </a:effectLst>
        </p:spPr>
      </p:sp>
      <p:sp>
        <p:nvSpPr>
          <p:cNvPr id="6" name="Shape 3"/>
          <p:cNvSpPr/>
          <p:nvPr/>
        </p:nvSpPr>
        <p:spPr>
          <a:xfrm>
            <a:off x="6309360" y="1280160"/>
            <a:ext cx="502920" cy="502920"/>
          </a:xfrm>
          <a:prstGeom prst="ellipse">
            <a:avLst/>
          </a:prstGeom>
          <a:solidFill>
            <a:srgbClr val="C2185B"/>
          </a:solidFill>
          <a:ln/>
        </p:spPr>
      </p:sp>
      <p:pic>
        <p:nvPicPr>
          <p:cNvPr id="7" name="Image 0" descr="preencoded.png">    </p:cNvPr>
          <p:cNvPicPr>
            <a:picLocks noChangeAspect="1"/>
          </p:cNvPicPr>
          <p:nvPr/>
        </p:nvPicPr>
        <p:blipFill>
          <a:blip r:embed="rId1"/>
          <a:stretch>
            <a:fillRect/>
          </a:stretch>
        </p:blipFill>
        <p:spPr>
          <a:xfrm>
            <a:off x="6419088" y="1389888"/>
            <a:ext cx="283464" cy="283464"/>
          </a:xfrm>
          <a:prstGeom prst="rect">
            <a:avLst/>
          </a:prstGeom>
        </p:spPr>
      </p:pic>
      <p:sp>
        <p:nvSpPr>
          <p:cNvPr id="8" name="Text 4"/>
          <p:cNvSpPr/>
          <p:nvPr/>
        </p:nvSpPr>
        <p:spPr>
          <a:xfrm>
            <a:off x="6995160" y="1261872"/>
            <a:ext cx="4389120" cy="320040"/>
          </a:xfrm>
          <a:prstGeom prst="rect">
            <a:avLst/>
          </a:prstGeom>
          <a:noFill/>
          <a:ln/>
        </p:spPr>
        <p:txBody>
          <a:bodyPr wrap="square" rtlCol="0" anchor="ctr"/>
          <a:lstStyle/>
          <a:p>
            <a:pPr indent="0" marL="0">
              <a:buNone/>
            </a:pPr>
            <a:r>
              <a:rPr lang="en-US" sz="1450" b="1" dirty="0">
                <a:solidFill>
                  <a:srgbClr val="3A2130"/>
                </a:solidFill>
                <a:latin typeface="Calibri" pitchFamily="34" charset="0"/>
                <a:ea typeface="Calibri" pitchFamily="34" charset="-122"/>
                <a:cs typeface="Calibri" pitchFamily="34" charset="-120"/>
              </a:rPr>
              <a:t>Tools &amp; Skills</a:t>
            </a:r>
            <a:endParaRPr lang="en-US" sz="1450" dirty="0"/>
          </a:p>
        </p:txBody>
      </p:sp>
      <p:sp>
        <p:nvSpPr>
          <p:cNvPr id="9" name="Text 5"/>
          <p:cNvSpPr/>
          <p:nvPr/>
        </p:nvSpPr>
        <p:spPr>
          <a:xfrm>
            <a:off x="6309360" y="1691640"/>
            <a:ext cx="5029200" cy="274320"/>
          </a:xfrm>
          <a:prstGeom prst="rect">
            <a:avLst/>
          </a:prstGeom>
          <a:noFill/>
          <a:ln/>
        </p:spPr>
        <p:txBody>
          <a:bodyPr wrap="square" rtlCol="0" anchor="ctr"/>
          <a:lstStyle/>
          <a:p>
            <a:pPr indent="0" marL="0">
              <a:buNone/>
            </a:pPr>
            <a:r>
              <a:rPr lang="en-US" sz="1100" dirty="0">
                <a:solidFill>
                  <a:srgbClr val="3A2130"/>
                </a:solidFill>
                <a:latin typeface="Calibri" pitchFamily="34" charset="0"/>
                <a:ea typeface="Calibri" pitchFamily="34" charset="-122"/>
                <a:cs typeface="Calibri" pitchFamily="34" charset="-120"/>
              </a:rPr>
              <a:t>Tool: Tableau Public</a:t>
            </a:r>
            <a:endParaRPr lang="en-US" sz="1100" dirty="0"/>
          </a:p>
        </p:txBody>
      </p:sp>
      <p:sp>
        <p:nvSpPr>
          <p:cNvPr id="10" name="Text 6"/>
          <p:cNvSpPr/>
          <p:nvPr/>
        </p:nvSpPr>
        <p:spPr>
          <a:xfrm>
            <a:off x="6309360" y="1965960"/>
            <a:ext cx="5029200" cy="548640"/>
          </a:xfrm>
          <a:prstGeom prst="rect">
            <a:avLst/>
          </a:prstGeom>
          <a:noFill/>
          <a:ln/>
        </p:spPr>
        <p:txBody>
          <a:bodyPr wrap="square" rtlCol="0" anchor="ctr"/>
          <a:lstStyle/>
          <a:p>
            <a:pPr indent="0" marL="0">
              <a:lnSpc>
                <a:spcPct val="115000"/>
              </a:lnSpc>
              <a:buNone/>
            </a:pPr>
            <a:r>
              <a:rPr lang="en-US" sz="1100" dirty="0">
                <a:solidFill>
                  <a:srgbClr val="8A6A78"/>
                </a:solidFill>
                <a:latin typeface="Calibri" pitchFamily="34" charset="0"/>
                <a:ea typeface="Calibri" pitchFamily="34" charset="-122"/>
                <a:cs typeface="Calibri" pitchFamily="34" charset="-120"/>
              </a:rPr>
              <a:t>Skills: Data Analysis, Dashboard Design, Data Visualization, Data Preprocessing</a:t>
            </a:r>
            <a:endParaRPr lang="en-US" sz="1100" dirty="0"/>
          </a:p>
        </p:txBody>
      </p:sp>
      <p:sp>
        <p:nvSpPr>
          <p:cNvPr id="11" name="Shape 7"/>
          <p:cNvSpPr/>
          <p:nvPr/>
        </p:nvSpPr>
        <p:spPr>
          <a:xfrm>
            <a:off x="6080760" y="2834640"/>
            <a:ext cx="5486400" cy="1371600"/>
          </a:xfrm>
          <a:prstGeom prst="roundRect">
            <a:avLst>
              <a:gd name="adj" fmla="val 4667"/>
            </a:avLst>
          </a:prstGeom>
          <a:solidFill>
            <a:srgbClr val="FDEBF3"/>
          </a:solidFill>
          <a:ln/>
          <a:effectLst>
            <a:outerShdw sx="100000" sy="100000" kx="0" ky="0" algn="bl" rotWithShape="0" blurRad="101600" dist="38100" dir="2700000">
              <a:srgbClr val="000000">
                <a:alpha val="12000"/>
              </a:srgbClr>
            </a:outerShdw>
          </a:effectLst>
        </p:spPr>
      </p:sp>
      <p:sp>
        <p:nvSpPr>
          <p:cNvPr id="12" name="Text 8"/>
          <p:cNvSpPr/>
          <p:nvPr/>
        </p:nvSpPr>
        <p:spPr>
          <a:xfrm>
            <a:off x="6309360" y="3017520"/>
            <a:ext cx="1554480" cy="502920"/>
          </a:xfrm>
          <a:prstGeom prst="rect">
            <a:avLst/>
          </a:prstGeom>
          <a:noFill/>
          <a:ln/>
        </p:spPr>
        <p:txBody>
          <a:bodyPr wrap="square" rtlCol="0" anchor="ctr"/>
          <a:lstStyle/>
          <a:p>
            <a:pPr algn="ctr" indent="0" marL="0">
              <a:buNone/>
            </a:pPr>
            <a:r>
              <a:rPr lang="en-US" sz="2600" b="1" dirty="0">
                <a:solidFill>
                  <a:srgbClr val="8B1D4C"/>
                </a:solidFill>
                <a:latin typeface="Cambria" pitchFamily="34" charset="0"/>
                <a:ea typeface="Cambria" pitchFamily="34" charset="-122"/>
                <a:cs typeface="Cambria" pitchFamily="34" charset="-120"/>
              </a:rPr>
              <a:t>8</a:t>
            </a:r>
            <a:endParaRPr lang="en-US" sz="2600" dirty="0"/>
          </a:p>
        </p:txBody>
      </p:sp>
      <p:sp>
        <p:nvSpPr>
          <p:cNvPr id="13" name="Text 9"/>
          <p:cNvSpPr/>
          <p:nvPr/>
        </p:nvSpPr>
        <p:spPr>
          <a:xfrm>
            <a:off x="6309360" y="3566160"/>
            <a:ext cx="1554480" cy="274320"/>
          </a:xfrm>
          <a:prstGeom prst="rect">
            <a:avLst/>
          </a:prstGeom>
          <a:noFill/>
          <a:ln/>
        </p:spPr>
        <p:txBody>
          <a:bodyPr wrap="square" rtlCol="0" anchor="ctr"/>
          <a:lstStyle/>
          <a:p>
            <a:pPr algn="ctr" indent="0" marL="0">
              <a:buNone/>
            </a:pPr>
            <a:r>
              <a:rPr lang="en-US" sz="950" b="1" dirty="0">
                <a:solidFill>
                  <a:srgbClr val="8A6A78"/>
                </a:solidFill>
                <a:latin typeface="Calibri" pitchFamily="34" charset="0"/>
                <a:ea typeface="Calibri" pitchFamily="34" charset="-122"/>
                <a:cs typeface="Calibri" pitchFamily="34" charset="-120"/>
              </a:rPr>
              <a:t>EPICS</a:t>
            </a:r>
            <a:endParaRPr lang="en-US" sz="950" dirty="0"/>
          </a:p>
        </p:txBody>
      </p:sp>
      <p:sp>
        <p:nvSpPr>
          <p:cNvPr id="14" name="Text 10"/>
          <p:cNvSpPr/>
          <p:nvPr/>
        </p:nvSpPr>
        <p:spPr>
          <a:xfrm>
            <a:off x="8001000" y="3017520"/>
            <a:ext cx="1554480" cy="502920"/>
          </a:xfrm>
          <a:prstGeom prst="rect">
            <a:avLst/>
          </a:prstGeom>
          <a:noFill/>
          <a:ln/>
        </p:spPr>
        <p:txBody>
          <a:bodyPr wrap="square" rtlCol="0" anchor="ctr"/>
          <a:lstStyle/>
          <a:p>
            <a:pPr algn="ctr" indent="0" marL="0">
              <a:buNone/>
            </a:pPr>
            <a:r>
              <a:rPr lang="en-US" sz="2600" b="1" dirty="0">
                <a:solidFill>
                  <a:srgbClr val="8B1D4C"/>
                </a:solidFill>
                <a:latin typeface="Cambria" pitchFamily="34" charset="0"/>
                <a:ea typeface="Cambria" pitchFamily="34" charset="-122"/>
                <a:cs typeface="Cambria" pitchFamily="34" charset="-120"/>
              </a:rPr>
              <a:t>14</a:t>
            </a:r>
            <a:endParaRPr lang="en-US" sz="2600" dirty="0"/>
          </a:p>
        </p:txBody>
      </p:sp>
      <p:sp>
        <p:nvSpPr>
          <p:cNvPr id="15" name="Text 11"/>
          <p:cNvSpPr/>
          <p:nvPr/>
        </p:nvSpPr>
        <p:spPr>
          <a:xfrm>
            <a:off x="8001000" y="3566160"/>
            <a:ext cx="1554480" cy="274320"/>
          </a:xfrm>
          <a:prstGeom prst="rect">
            <a:avLst/>
          </a:prstGeom>
          <a:noFill/>
          <a:ln/>
        </p:spPr>
        <p:txBody>
          <a:bodyPr wrap="square" rtlCol="0" anchor="ctr"/>
          <a:lstStyle/>
          <a:p>
            <a:pPr algn="ctr" indent="0" marL="0">
              <a:buNone/>
            </a:pPr>
            <a:r>
              <a:rPr lang="en-US" sz="950" b="1" dirty="0">
                <a:solidFill>
                  <a:srgbClr val="8A6A78"/>
                </a:solidFill>
                <a:latin typeface="Calibri" pitchFamily="34" charset="0"/>
                <a:ea typeface="Calibri" pitchFamily="34" charset="-122"/>
                <a:cs typeface="Calibri" pitchFamily="34" charset="-120"/>
              </a:rPr>
              <a:t>TASKS</a:t>
            </a:r>
            <a:endParaRPr lang="en-US" sz="950" dirty="0"/>
          </a:p>
        </p:txBody>
      </p:sp>
      <p:sp>
        <p:nvSpPr>
          <p:cNvPr id="16" name="Text 12"/>
          <p:cNvSpPr/>
          <p:nvPr/>
        </p:nvSpPr>
        <p:spPr>
          <a:xfrm>
            <a:off x="9692640" y="3017520"/>
            <a:ext cx="1554480" cy="502920"/>
          </a:xfrm>
          <a:prstGeom prst="rect">
            <a:avLst/>
          </a:prstGeom>
          <a:noFill/>
          <a:ln/>
        </p:spPr>
        <p:txBody>
          <a:bodyPr wrap="square" rtlCol="0" anchor="ctr"/>
          <a:lstStyle/>
          <a:p>
            <a:pPr algn="ctr" indent="0" marL="0">
              <a:buNone/>
            </a:pPr>
            <a:r>
              <a:rPr lang="en-US" sz="2600" b="1" dirty="0">
                <a:solidFill>
                  <a:srgbClr val="8B1D4C"/>
                </a:solidFill>
                <a:latin typeface="Cambria" pitchFamily="34" charset="0"/>
                <a:ea typeface="Cambria" pitchFamily="34" charset="-122"/>
                <a:cs typeface="Cambria" pitchFamily="34" charset="-120"/>
              </a:rPr>
              <a:t>8</a:t>
            </a:r>
            <a:endParaRPr lang="en-US" sz="2600" dirty="0"/>
          </a:p>
        </p:txBody>
      </p:sp>
      <p:sp>
        <p:nvSpPr>
          <p:cNvPr id="17" name="Text 13"/>
          <p:cNvSpPr/>
          <p:nvPr/>
        </p:nvSpPr>
        <p:spPr>
          <a:xfrm>
            <a:off x="9692640" y="3566160"/>
            <a:ext cx="1554480" cy="274320"/>
          </a:xfrm>
          <a:prstGeom prst="rect">
            <a:avLst/>
          </a:prstGeom>
          <a:noFill/>
          <a:ln/>
        </p:spPr>
        <p:txBody>
          <a:bodyPr wrap="square" rtlCol="0" anchor="ctr"/>
          <a:lstStyle/>
          <a:p>
            <a:pPr algn="ctr" indent="0" marL="0">
              <a:buNone/>
            </a:pPr>
            <a:r>
              <a:rPr lang="en-US" sz="950" b="1" dirty="0">
                <a:solidFill>
                  <a:srgbClr val="8A6A78"/>
                </a:solidFill>
                <a:latin typeface="Calibri" pitchFamily="34" charset="0"/>
                <a:ea typeface="Calibri" pitchFamily="34" charset="-122"/>
                <a:cs typeface="Calibri" pitchFamily="34" charset="-120"/>
              </a:rPr>
              <a:t>SUBTASKS</a:t>
            </a:r>
            <a:endParaRPr lang="en-US" sz="950" dirty="0"/>
          </a:p>
        </p:txBody>
      </p:sp>
      <p:sp>
        <p:nvSpPr>
          <p:cNvPr id="18" name="Shape 14"/>
          <p:cNvSpPr/>
          <p:nvPr/>
        </p:nvSpPr>
        <p:spPr>
          <a:xfrm>
            <a:off x="6080760" y="4343400"/>
            <a:ext cx="5486400" cy="1783080"/>
          </a:xfrm>
          <a:prstGeom prst="roundRect">
            <a:avLst>
              <a:gd name="adj" fmla="val 3590"/>
            </a:avLst>
          </a:prstGeom>
          <a:solidFill>
            <a:srgbClr val="FFFFFF"/>
          </a:solidFill>
          <a:ln w="12700">
            <a:solidFill>
              <a:srgbClr val="F0D6E4"/>
            </a:solidFill>
            <a:prstDash val="solid"/>
          </a:ln>
          <a:effectLst>
            <a:outerShdw sx="100000" sy="100000" kx="0" ky="0" algn="bl" rotWithShape="0" blurRad="101600" dist="38100" dir="2700000">
              <a:srgbClr val="000000">
                <a:alpha val="12000"/>
              </a:srgbClr>
            </a:outerShdw>
          </a:effectLst>
        </p:spPr>
      </p:sp>
      <p:sp>
        <p:nvSpPr>
          <p:cNvPr id="19" name="Shape 15"/>
          <p:cNvSpPr/>
          <p:nvPr/>
        </p:nvSpPr>
        <p:spPr>
          <a:xfrm>
            <a:off x="6309360" y="4572000"/>
            <a:ext cx="502920" cy="502920"/>
          </a:xfrm>
          <a:prstGeom prst="ellipse">
            <a:avLst/>
          </a:prstGeom>
          <a:solidFill>
            <a:srgbClr val="C2185B"/>
          </a:solidFill>
          <a:ln/>
        </p:spPr>
      </p:sp>
      <p:pic>
        <p:nvPicPr>
          <p:cNvPr id="20" name="Image 1" descr="preencoded.png">    </p:cNvPr>
          <p:cNvPicPr>
            <a:picLocks noChangeAspect="1"/>
          </p:cNvPicPr>
          <p:nvPr/>
        </p:nvPicPr>
        <p:blipFill>
          <a:blip r:embed="rId2"/>
          <a:stretch>
            <a:fillRect/>
          </a:stretch>
        </p:blipFill>
        <p:spPr>
          <a:xfrm>
            <a:off x="6419088" y="4681728"/>
            <a:ext cx="283464" cy="283464"/>
          </a:xfrm>
          <a:prstGeom prst="rect">
            <a:avLst/>
          </a:prstGeom>
        </p:spPr>
      </p:pic>
      <p:sp>
        <p:nvSpPr>
          <p:cNvPr id="21" name="Text 16"/>
          <p:cNvSpPr/>
          <p:nvPr/>
        </p:nvSpPr>
        <p:spPr>
          <a:xfrm>
            <a:off x="6995160" y="4553712"/>
            <a:ext cx="4389120" cy="320040"/>
          </a:xfrm>
          <a:prstGeom prst="rect">
            <a:avLst/>
          </a:prstGeom>
          <a:noFill/>
          <a:ln/>
        </p:spPr>
        <p:txBody>
          <a:bodyPr wrap="square" rtlCol="0" anchor="ctr"/>
          <a:lstStyle/>
          <a:p>
            <a:pPr indent="0" marL="0">
              <a:buNone/>
            </a:pPr>
            <a:r>
              <a:rPr lang="en-US" sz="1450" b="1" dirty="0">
                <a:solidFill>
                  <a:srgbClr val="3A2130"/>
                </a:solidFill>
                <a:latin typeface="Calibri" pitchFamily="34" charset="0"/>
                <a:ea typeface="Calibri" pitchFamily="34" charset="-122"/>
                <a:cs typeface="Calibri" pitchFamily="34" charset="-120"/>
              </a:rPr>
              <a:t>Team</a:t>
            </a:r>
            <a:endParaRPr lang="en-US" sz="1450" dirty="0"/>
          </a:p>
        </p:txBody>
      </p:sp>
      <p:sp>
        <p:nvSpPr>
          <p:cNvPr id="22" name="Text 17"/>
          <p:cNvSpPr/>
          <p:nvPr/>
        </p:nvSpPr>
        <p:spPr>
          <a:xfrm>
            <a:off x="6309360" y="4983480"/>
            <a:ext cx="5029200" cy="1051560"/>
          </a:xfrm>
          <a:prstGeom prst="rect">
            <a:avLst/>
          </a:prstGeom>
          <a:noFill/>
          <a:ln/>
        </p:spPr>
        <p:txBody>
          <a:bodyPr wrap="square" rtlCol="0" anchor="ctr"/>
          <a:lstStyle/>
          <a:p>
            <a:pPr indent="0" marL="0">
              <a:lnSpc>
                <a:spcPct val="130000"/>
              </a:lnSpc>
              <a:buNone/>
            </a:pPr>
            <a:r>
              <a:rPr lang="en-US" sz="1100" b="1" dirty="0">
                <a:solidFill>
                  <a:srgbClr val="3A2130"/>
                </a:solidFill>
                <a:latin typeface="Calibri" pitchFamily="34" charset="0"/>
                <a:ea typeface="Calibri" pitchFamily="34" charset="-122"/>
                <a:cs typeface="Calibri" pitchFamily="34" charset="-120"/>
              </a:rPr>
              <a:t>Shafiya Shaik </a:t>
            </a:r>
            <a:pPr indent="0" marL="0">
              <a:lnSpc>
                <a:spcPct val="130000"/>
              </a:lnSpc>
              <a:buNone/>
            </a:pPr>
            <a:r>
              <a:rPr lang="en-US" sz="1100" dirty="0">
                <a:solidFill>
                  <a:srgbClr val="8A6A78"/>
                </a:solidFill>
                <a:latin typeface="Calibri" pitchFamily="34" charset="0"/>
                <a:ea typeface="Calibri" pitchFamily="34" charset="-122"/>
                <a:cs typeface="Calibri" pitchFamily="34" charset="-120"/>
              </a:rPr>
              <a:t>— Team Lead</a:t>
            </a:r>
            <a:endParaRPr lang="en-US" sz="1100" dirty="0"/>
          </a:p>
          <a:p>
            <a:pPr indent="0" marL="0">
              <a:lnSpc>
                <a:spcPct val="130000"/>
              </a:lnSpc>
              <a:buNone/>
            </a:pPr>
            <a:r>
              <a:rPr lang="en-US" sz="1100" dirty="0">
                <a:solidFill>
                  <a:srgbClr val="8A6A78"/>
                </a:solidFill>
                <a:latin typeface="Calibri" pitchFamily="34" charset="0"/>
                <a:ea typeface="Calibri" pitchFamily="34" charset="-122"/>
                <a:cs typeface="Calibri" pitchFamily="34" charset="-120"/>
              </a:rPr>
              <a:t>Varsha Vanganuru, Afreen Shaikh, Shaik Safa, Syed Azmeera Begum</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8B1D4C"/>
        </a:solidFill>
      </p:bgPr>
    </p:bg>
    <p:spTree>
      <p:nvGrpSpPr>
        <p:cNvPr id="1" name=""/>
        <p:cNvGrpSpPr/>
        <p:nvPr/>
      </p:nvGrpSpPr>
      <p:grpSpPr>
        <a:xfrm>
          <a:off x="0" y="0"/>
          <a:ext cx="0" cy="0"/>
          <a:chOff x="0" y="0"/>
          <a:chExt cx="0" cy="0"/>
        </a:xfrm>
      </p:grpSpPr>
      <p:sp>
        <p:nvSpPr>
          <p:cNvPr id="2" name="Shape 0"/>
          <p:cNvSpPr/>
          <p:nvPr/>
        </p:nvSpPr>
        <p:spPr>
          <a:xfrm>
            <a:off x="-1645920" y="-1828800"/>
            <a:ext cx="5029200" cy="5029200"/>
          </a:xfrm>
          <a:prstGeom prst="ellipse">
            <a:avLst/>
          </a:prstGeom>
          <a:solidFill>
            <a:srgbClr val="C2185B">
              <a:alpha val="45000"/>
            </a:srgbClr>
          </a:solidFill>
          <a:ln/>
        </p:spPr>
      </p:sp>
      <p:sp>
        <p:nvSpPr>
          <p:cNvPr id="3" name="Shape 1"/>
          <p:cNvSpPr/>
          <p:nvPr/>
        </p:nvSpPr>
        <p:spPr>
          <a:xfrm>
            <a:off x="9875520" y="4114800"/>
            <a:ext cx="4114800" cy="4114800"/>
          </a:xfrm>
          <a:prstGeom prst="ellipse">
            <a:avLst/>
          </a:prstGeom>
          <a:solidFill>
            <a:srgbClr val="E91E8C">
              <a:alpha val="35000"/>
            </a:srgbClr>
          </a:solidFill>
          <a:ln/>
        </p:spPr>
      </p:sp>
      <p:sp>
        <p:nvSpPr>
          <p:cNvPr id="4" name="Text 2"/>
          <p:cNvSpPr/>
          <p:nvPr/>
        </p:nvSpPr>
        <p:spPr>
          <a:xfrm>
            <a:off x="822960" y="1463040"/>
            <a:ext cx="7315200" cy="548640"/>
          </a:xfrm>
          <a:prstGeom prst="rect">
            <a:avLst/>
          </a:prstGeom>
          <a:noFill/>
          <a:ln/>
        </p:spPr>
        <p:txBody>
          <a:bodyPr wrap="square" rtlCol="0" anchor="ctr"/>
          <a:lstStyle/>
          <a:p>
            <a:pPr indent="0" marL="0">
              <a:buNone/>
            </a:pPr>
            <a:r>
              <a:rPr lang="en-US" sz="1500" b="1" spc="200" kern="0" dirty="0">
                <a:solidFill>
                  <a:srgbClr val="F4C6DE"/>
                </a:solidFill>
                <a:latin typeface="Calibri" pitchFamily="34" charset="0"/>
                <a:ea typeface="Calibri" pitchFamily="34" charset="-122"/>
                <a:cs typeface="Calibri" pitchFamily="34" charset="-120"/>
              </a:rPr>
              <a:t>Key Takeaway</a:t>
            </a:r>
            <a:endParaRPr lang="en-US" sz="1500" dirty="0"/>
          </a:p>
        </p:txBody>
      </p:sp>
      <p:sp>
        <p:nvSpPr>
          <p:cNvPr id="5" name="Text 3"/>
          <p:cNvSpPr/>
          <p:nvPr/>
        </p:nvSpPr>
        <p:spPr>
          <a:xfrm>
            <a:off x="822960" y="1965960"/>
            <a:ext cx="9875520" cy="1828800"/>
          </a:xfrm>
          <a:prstGeom prst="rect">
            <a:avLst/>
          </a:prstGeom>
          <a:noFill/>
          <a:ln/>
        </p:spPr>
        <p:txBody>
          <a:bodyPr wrap="square" rtlCol="0" anchor="ctr"/>
          <a:lstStyle/>
          <a:p>
            <a:pPr indent="0" marL="0">
              <a:lnSpc>
                <a:spcPct val="130000"/>
              </a:lnSpc>
              <a:buNone/>
            </a:pPr>
            <a:r>
              <a:rPr lang="en-US" sz="2600" i="1" dirty="0">
                <a:solidFill>
                  <a:srgbClr val="FFFFFF"/>
                </a:solidFill>
                <a:latin typeface="Cambria" pitchFamily="34" charset="0"/>
                <a:ea typeface="Cambria" pitchFamily="34" charset="-122"/>
                <a:cs typeface="Cambria" pitchFamily="34" charset="-120"/>
              </a:rPr>
              <a:t>Building this dashboard reinforced how much design decisions — layout structure, color consistency, and visual hierarchy — matter in making a dashboard genuinely usable, not just visually appealing.</a:t>
            </a:r>
            <a:endParaRPr lang="en-US" sz="2600" dirty="0"/>
          </a:p>
        </p:txBody>
      </p:sp>
      <p:sp>
        <p:nvSpPr>
          <p:cNvPr id="6" name="Text 4"/>
          <p:cNvSpPr/>
          <p:nvPr/>
        </p:nvSpPr>
        <p:spPr>
          <a:xfrm>
            <a:off x="822960" y="4160520"/>
            <a:ext cx="8229600" cy="457200"/>
          </a:xfrm>
          <a:prstGeom prst="rect">
            <a:avLst/>
          </a:prstGeom>
          <a:noFill/>
          <a:ln/>
        </p:spPr>
        <p:txBody>
          <a:bodyPr wrap="square" rtlCol="0" anchor="ctr"/>
          <a:lstStyle/>
          <a:p>
            <a:pPr indent="0" marL="0">
              <a:buNone/>
            </a:pPr>
            <a:r>
              <a:rPr lang="en-US" sz="1400" dirty="0">
                <a:solidFill>
                  <a:srgbClr val="EAD3DF"/>
                </a:solidFill>
                <a:latin typeface="Calibri" pitchFamily="34" charset="0"/>
                <a:ea typeface="Calibri" pitchFamily="34" charset="-122"/>
                <a:cs typeface="Calibri" pitchFamily="34" charset="-120"/>
              </a:rPr>
              <a:t>Open to feedback and suggestions from the data visualization community.</a:t>
            </a:r>
            <a:endParaRPr lang="en-US" sz="1400" dirty="0"/>
          </a:p>
        </p:txBody>
      </p:sp>
      <p:sp>
        <p:nvSpPr>
          <p:cNvPr id="7" name="Text 5"/>
          <p:cNvSpPr/>
          <p:nvPr/>
        </p:nvSpPr>
        <p:spPr>
          <a:xfrm>
            <a:off x="822960" y="6035040"/>
            <a:ext cx="10058400" cy="365760"/>
          </a:xfrm>
          <a:prstGeom prst="rect">
            <a:avLst/>
          </a:prstGeom>
          <a:noFill/>
          <a:ln/>
        </p:spPr>
        <p:txBody>
          <a:bodyPr wrap="square" rtlCol="0" anchor="ctr"/>
          <a:lstStyle/>
          <a:p>
            <a:pPr indent="0" marL="0">
              <a:buNone/>
            </a:pPr>
            <a:r>
              <a:rPr lang="en-US" sz="1150" b="1" dirty="0">
                <a:solidFill>
                  <a:srgbClr val="D89CB8"/>
                </a:solidFill>
                <a:latin typeface="Calibri" pitchFamily="34" charset="0"/>
                <a:ea typeface="Calibri" pitchFamily="34" charset="-122"/>
                <a:cs typeface="Calibri" pitchFamily="34" charset="-120"/>
              </a:rPr>
              <a:t>#Tableau   #DataVisualization   #DataAnalytics   #DashboardDesign   #DataStorytelling</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Cosmetic Insights: Navigating Cosmetics Trends and Consumer Behavior with Tableau</dc:title>
  <dc:subject>PptxGenJS Presentation</dc:subject>
  <dc:creator>Varsha Vanganuru</dc:creator>
  <cp:lastModifiedBy>Varsha Vanganuru</cp:lastModifiedBy>
  <cp:revision>1</cp:revision>
  <dcterms:created xsi:type="dcterms:W3CDTF">2026-07-09T03:59:44Z</dcterms:created>
  <dcterms:modified xsi:type="dcterms:W3CDTF">2026-07-09T03:59:44Z</dcterms:modified>
</cp:coreProperties>
</file>